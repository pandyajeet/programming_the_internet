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1"/>
  </p:notesMasterIdLst>
  <p:sldIdLst>
    <p:sldId id="256" r:id="rId2"/>
    <p:sldId id="294" r:id="rId3"/>
    <p:sldId id="295" r:id="rId4"/>
    <p:sldId id="275" r:id="rId5"/>
    <p:sldId id="296" r:id="rId6"/>
    <p:sldId id="257" r:id="rId7"/>
    <p:sldId id="258" r:id="rId8"/>
    <p:sldId id="297" r:id="rId9"/>
    <p:sldId id="298" r:id="rId10"/>
    <p:sldId id="299" r:id="rId11"/>
    <p:sldId id="300" r:id="rId12"/>
    <p:sldId id="301" r:id="rId13"/>
    <p:sldId id="302" r:id="rId14"/>
    <p:sldId id="303" r:id="rId15"/>
    <p:sldId id="304" r:id="rId16"/>
    <p:sldId id="305" r:id="rId17"/>
    <p:sldId id="306" r:id="rId18"/>
    <p:sldId id="307" r:id="rId19"/>
    <p:sldId id="318" r:id="rId20"/>
    <p:sldId id="319" r:id="rId21"/>
    <p:sldId id="323" r:id="rId22"/>
    <p:sldId id="308" r:id="rId23"/>
    <p:sldId id="309" r:id="rId24"/>
    <p:sldId id="310" r:id="rId25"/>
    <p:sldId id="311" r:id="rId26"/>
    <p:sldId id="312" r:id="rId27"/>
    <p:sldId id="313" r:id="rId28"/>
    <p:sldId id="314" r:id="rId29"/>
    <p:sldId id="315" r:id="rId30"/>
    <p:sldId id="316" r:id="rId31"/>
    <p:sldId id="317" r:id="rId32"/>
    <p:sldId id="320" r:id="rId33"/>
    <p:sldId id="321" r:id="rId34"/>
    <p:sldId id="322" r:id="rId35"/>
    <p:sldId id="324" r:id="rId36"/>
    <p:sldId id="325" r:id="rId37"/>
    <p:sldId id="326" r:id="rId38"/>
    <p:sldId id="327" r:id="rId39"/>
    <p:sldId id="328" r:id="rId40"/>
    <p:sldId id="329" r:id="rId41"/>
    <p:sldId id="330" r:id="rId42"/>
    <p:sldId id="331" r:id="rId43"/>
    <p:sldId id="332" r:id="rId44"/>
    <p:sldId id="333" r:id="rId45"/>
    <p:sldId id="334" r:id="rId46"/>
    <p:sldId id="335" r:id="rId47"/>
    <p:sldId id="336" r:id="rId48"/>
    <p:sldId id="337" r:id="rId49"/>
    <p:sldId id="338" r:id="rId50"/>
    <p:sldId id="339" r:id="rId51"/>
    <p:sldId id="340" r:id="rId52"/>
    <p:sldId id="341" r:id="rId53"/>
    <p:sldId id="342" r:id="rId54"/>
    <p:sldId id="343" r:id="rId55"/>
    <p:sldId id="344" r:id="rId56"/>
    <p:sldId id="345" r:id="rId57"/>
    <p:sldId id="346" r:id="rId58"/>
    <p:sldId id="347" r:id="rId59"/>
    <p:sldId id="348" r:id="rId60"/>
    <p:sldId id="349" r:id="rId61"/>
    <p:sldId id="350" r:id="rId62"/>
    <p:sldId id="351" r:id="rId63"/>
    <p:sldId id="352" r:id="rId64"/>
    <p:sldId id="353" r:id="rId65"/>
    <p:sldId id="354" r:id="rId66"/>
    <p:sldId id="355" r:id="rId67"/>
    <p:sldId id="356" r:id="rId68"/>
    <p:sldId id="357" r:id="rId69"/>
    <p:sldId id="358" r:id="rId7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66"/>
    <a:srgbClr val="CC00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26" autoAdjust="0"/>
    <p:restoredTop sz="94660"/>
  </p:normalViewPr>
  <p:slideViewPr>
    <p:cSldViewPr>
      <p:cViewPr varScale="1">
        <p:scale>
          <a:sx n="82" d="100"/>
          <a:sy n="82" d="100"/>
        </p:scale>
        <p:origin x="1507"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10D809-D538-47EA-97CB-5DFD2D054E5B}" type="datetimeFigureOut">
              <a:rPr lang="en-AU" smtClean="0"/>
              <a:t>11/12/2025</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8E4C35-986A-4E4B-9374-DFEA489D6B65}" type="slidenum">
              <a:rPr lang="en-AU" smtClean="0"/>
              <a:t>‹#›</a:t>
            </a:fld>
            <a:endParaRPr lang="en-AU"/>
          </a:p>
        </p:txBody>
      </p:sp>
    </p:spTree>
    <p:extLst>
      <p:ext uri="{BB962C8B-B14F-4D97-AF65-F5344CB8AC3E}">
        <p14:creationId xmlns:p14="http://schemas.microsoft.com/office/powerpoint/2010/main" val="22664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8E4C35-986A-4E4B-9374-DFEA489D6B65}" type="slidenum">
              <a:rPr lang="en-AU" smtClean="0"/>
              <a:t>5</a:t>
            </a:fld>
            <a:endParaRPr lang="en-AU"/>
          </a:p>
        </p:txBody>
      </p:sp>
    </p:spTree>
    <p:extLst>
      <p:ext uri="{BB962C8B-B14F-4D97-AF65-F5344CB8AC3E}">
        <p14:creationId xmlns:p14="http://schemas.microsoft.com/office/powerpoint/2010/main" val="3652032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FDCD6AF2-41C3-4C5F-B157-899B1132A850}" type="datetimeFigureOut">
              <a:rPr lang="en-US" smtClean="0"/>
              <a:t>12/11/2025</a:t>
            </a:fld>
            <a:endParaRPr lang="en-AU"/>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AU"/>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A2847464-2681-4EEC-818A-523AB7D1F945}" type="slidenum">
              <a:rPr lang="en-AU" smtClean="0"/>
              <a:t>‹#›</a:t>
            </a:fld>
            <a:endParaRPr lang="en-AU"/>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FDCD6AF2-41C3-4C5F-B157-899B1132A850}" type="datetimeFigureOut">
              <a:rPr lang="en-US" smtClean="0"/>
              <a:t>12/11/2025</a:t>
            </a:fld>
            <a:endParaRPr lang="en-AU"/>
          </a:p>
        </p:txBody>
      </p:sp>
      <p:sp>
        <p:nvSpPr>
          <p:cNvPr id="9" name="Slide Number Placeholder 8"/>
          <p:cNvSpPr>
            <a:spLocks noGrp="1"/>
          </p:cNvSpPr>
          <p:nvPr>
            <p:ph type="sldNum" sz="quarter" idx="15"/>
          </p:nvPr>
        </p:nvSpPr>
        <p:spPr/>
        <p:txBody>
          <a:bodyPr rtlCol="0"/>
          <a:lstStyle/>
          <a:p>
            <a:fld id="{A2847464-2681-4EEC-818A-523AB7D1F945}" type="slidenum">
              <a:rPr lang="en-AU" smtClean="0"/>
              <a:t>‹#›</a:t>
            </a:fld>
            <a:endParaRPr lang="en-AU"/>
          </a:p>
        </p:txBody>
      </p:sp>
      <p:sp>
        <p:nvSpPr>
          <p:cNvPr id="10" name="Footer Placeholder 9"/>
          <p:cNvSpPr>
            <a:spLocks noGrp="1"/>
          </p:cNvSpPr>
          <p:nvPr>
            <p:ph type="ftr" sz="quarter" idx="16"/>
          </p:nvPr>
        </p:nvSpPr>
        <p:spPr/>
        <p:txBody>
          <a:bodyPr rtlCol="0"/>
          <a:lstStyle/>
          <a:p>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FDCD6AF2-41C3-4C5F-B157-899B1132A850}" type="datetimeFigureOut">
              <a:rPr lang="en-US" smtClean="0"/>
              <a:t>12/11/2025</a:t>
            </a:fld>
            <a:endParaRPr lang="en-AU"/>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AU"/>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A2847464-2681-4EEC-818A-523AB7D1F945}"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FDCD6AF2-41C3-4C5F-B157-899B1132A850}" type="datetimeFigureOut">
              <a:rPr lang="en-US" smtClean="0"/>
              <a:t>12/11/2025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2847464-2681-4EEC-818A-523AB7D1F945}" type="slidenum">
              <a:rPr lang="en-AU" smtClean="0"/>
              <a:t>‹#›</a:t>
            </a:fld>
            <a:endParaRPr lang="en-AU"/>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FDCD6AF2-41C3-4C5F-B157-899B1132A850}" type="datetimeFigureOut">
              <a:rPr lang="en-US" smtClean="0"/>
              <a:t>12/11/2025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2847464-2681-4EEC-818A-523AB7D1F945}" type="slidenum">
              <a:rPr lang="en-AU" smtClean="0"/>
              <a:t>‹#›</a:t>
            </a:fld>
            <a:endParaRPr lang="en-AU"/>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FDCD6AF2-41C3-4C5F-B157-899B1132A850}" type="datetimeFigureOut">
              <a:rPr lang="en-US" smtClean="0"/>
              <a:t>12/11/2025</a:t>
            </a:fld>
            <a:endParaRPr lang="en-AU"/>
          </a:p>
        </p:txBody>
      </p:sp>
      <p:sp>
        <p:nvSpPr>
          <p:cNvPr id="7" name="Slide Number Placeholder 6"/>
          <p:cNvSpPr>
            <a:spLocks noGrp="1"/>
          </p:cNvSpPr>
          <p:nvPr>
            <p:ph type="sldNum" sz="quarter" idx="11"/>
          </p:nvPr>
        </p:nvSpPr>
        <p:spPr/>
        <p:txBody>
          <a:bodyPr rtlCol="0"/>
          <a:lstStyle/>
          <a:p>
            <a:fld id="{A2847464-2681-4EEC-818A-523AB7D1F945}" type="slidenum">
              <a:rPr lang="en-AU" smtClean="0"/>
              <a:t>‹#›</a:t>
            </a:fld>
            <a:endParaRPr lang="en-AU"/>
          </a:p>
        </p:txBody>
      </p:sp>
      <p:sp>
        <p:nvSpPr>
          <p:cNvPr id="8" name="Footer Placeholder 7"/>
          <p:cNvSpPr>
            <a:spLocks noGrp="1"/>
          </p:cNvSpPr>
          <p:nvPr>
            <p:ph type="ftr" sz="quarter" idx="12"/>
          </p:nvPr>
        </p:nvSpPr>
        <p:spPr/>
        <p:txBody>
          <a:bodyPr rtlCol="0"/>
          <a:lstStyle/>
          <a:p>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CD6AF2-41C3-4C5F-B157-899B1132A850}" type="datetimeFigureOut">
              <a:rPr lang="en-US" smtClean="0"/>
              <a:t>12/11/2025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2847464-2681-4EEC-818A-523AB7D1F945}"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FDCD6AF2-41C3-4C5F-B157-899B1132A850}" type="datetimeFigureOut">
              <a:rPr lang="en-US" smtClean="0"/>
              <a:t>12/11/2025</a:t>
            </a:fld>
            <a:endParaRPr lang="en-AU"/>
          </a:p>
        </p:txBody>
      </p:sp>
      <p:sp>
        <p:nvSpPr>
          <p:cNvPr id="22" name="Slide Number Placeholder 21"/>
          <p:cNvSpPr>
            <a:spLocks noGrp="1"/>
          </p:cNvSpPr>
          <p:nvPr>
            <p:ph type="sldNum" sz="quarter" idx="15"/>
          </p:nvPr>
        </p:nvSpPr>
        <p:spPr/>
        <p:txBody>
          <a:bodyPr rtlCol="0"/>
          <a:lstStyle/>
          <a:p>
            <a:fld id="{A2847464-2681-4EEC-818A-523AB7D1F945}" type="slidenum">
              <a:rPr lang="en-AU" smtClean="0"/>
              <a:t>‹#›</a:t>
            </a:fld>
            <a:endParaRPr lang="en-AU"/>
          </a:p>
        </p:txBody>
      </p:sp>
      <p:sp>
        <p:nvSpPr>
          <p:cNvPr id="23" name="Footer Placeholder 22"/>
          <p:cNvSpPr>
            <a:spLocks noGrp="1"/>
          </p:cNvSpPr>
          <p:nvPr>
            <p:ph type="ftr" sz="quarter" idx="16"/>
          </p:nvPr>
        </p:nvSpPr>
        <p:spPr/>
        <p:txBody>
          <a:bodyPr rtlCol="0"/>
          <a:lstStyle/>
          <a:p>
            <a:endParaRPr lang="en-AU"/>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FDCD6AF2-41C3-4C5F-B157-899B1132A850}" type="datetimeFigureOut">
              <a:rPr lang="en-US" smtClean="0"/>
              <a:t>12/11/2025</a:t>
            </a:fld>
            <a:endParaRPr lang="en-AU"/>
          </a:p>
        </p:txBody>
      </p:sp>
      <p:sp>
        <p:nvSpPr>
          <p:cNvPr id="18" name="Slide Number Placeholder 17"/>
          <p:cNvSpPr>
            <a:spLocks noGrp="1"/>
          </p:cNvSpPr>
          <p:nvPr>
            <p:ph type="sldNum" sz="quarter" idx="11"/>
          </p:nvPr>
        </p:nvSpPr>
        <p:spPr/>
        <p:txBody>
          <a:bodyPr rtlCol="0"/>
          <a:lstStyle/>
          <a:p>
            <a:fld id="{A2847464-2681-4EEC-818A-523AB7D1F945}" type="slidenum">
              <a:rPr lang="en-AU" smtClean="0"/>
              <a:t>‹#›</a:t>
            </a:fld>
            <a:endParaRPr lang="en-AU"/>
          </a:p>
        </p:txBody>
      </p:sp>
      <p:sp>
        <p:nvSpPr>
          <p:cNvPr id="21" name="Footer Placeholder 20"/>
          <p:cNvSpPr>
            <a:spLocks noGrp="1"/>
          </p:cNvSpPr>
          <p:nvPr>
            <p:ph type="ftr" sz="quarter" idx="12"/>
          </p:nvPr>
        </p:nvSpPr>
        <p:spPr/>
        <p:txBody>
          <a:bodyPr rtlCol="0"/>
          <a:lstStyle/>
          <a:p>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DCD6AF2-41C3-4C5F-B157-899B1132A850}" type="datetimeFigureOut">
              <a:rPr lang="en-US" smtClean="0"/>
              <a:t>12/11/2025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2847464-2681-4EEC-818A-523AB7D1F945}"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DCD6AF2-41C3-4C5F-B157-899B1132A850}" type="datetimeFigureOut">
              <a:rPr lang="en-US" smtClean="0"/>
              <a:t>12/11/2025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2847464-2681-4EEC-818A-523AB7D1F945}"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FDCD6AF2-41C3-4C5F-B157-899B1132A850}" type="datetimeFigureOut">
              <a:rPr lang="en-US" smtClean="0"/>
              <a:t>12/11/2025</a:t>
            </a:fld>
            <a:endParaRPr lang="en-AU"/>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AU"/>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A2847464-2681-4EEC-818A-523AB7D1F945}"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developer.mozilla.org/en-US/docs/Glossary/UR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27784" y="1196752"/>
            <a:ext cx="6172200" cy="1894362"/>
          </a:xfrm>
        </p:spPr>
        <p:txBody>
          <a:bodyPr/>
          <a:lstStyle/>
          <a:p>
            <a:r>
              <a:rPr lang="en-AU" dirty="0" smtClean="0">
                <a:solidFill>
                  <a:schemeClr val="accent1">
                    <a:lumMod val="75000"/>
                  </a:schemeClr>
                </a:solidFill>
              </a:rPr>
              <a:t>CAUC204 </a:t>
            </a:r>
            <a:r>
              <a:rPr lang="en-AU" dirty="0" smtClean="0">
                <a:solidFill>
                  <a:schemeClr val="accent1">
                    <a:lumMod val="75000"/>
                  </a:schemeClr>
                </a:solidFill>
              </a:rPr>
              <a:t>– </a:t>
            </a:r>
            <a:br>
              <a:rPr lang="en-AU" dirty="0" smtClean="0">
                <a:solidFill>
                  <a:schemeClr val="accent1">
                    <a:lumMod val="75000"/>
                  </a:schemeClr>
                </a:solidFill>
              </a:rPr>
            </a:br>
            <a:r>
              <a:rPr lang="en-AU" dirty="0" smtClean="0">
                <a:solidFill>
                  <a:schemeClr val="accent1">
                    <a:lumMod val="75000"/>
                  </a:schemeClr>
                </a:solidFill>
              </a:rPr>
              <a:t>Programming the internet</a:t>
            </a:r>
            <a:endParaRPr lang="en-AU" dirty="0">
              <a:solidFill>
                <a:schemeClr val="accent1">
                  <a:lumMod val="75000"/>
                </a:schemeClr>
              </a:solidFill>
            </a:endParaRPr>
          </a:p>
        </p:txBody>
      </p:sp>
      <p:sp>
        <p:nvSpPr>
          <p:cNvPr id="3" name="Subtitle 2"/>
          <p:cNvSpPr>
            <a:spLocks noGrp="1"/>
          </p:cNvSpPr>
          <p:nvPr>
            <p:ph type="subTitle" idx="1"/>
          </p:nvPr>
        </p:nvSpPr>
        <p:spPr>
          <a:xfrm>
            <a:off x="2627784" y="3230154"/>
            <a:ext cx="6172200" cy="1371600"/>
          </a:xfrm>
        </p:spPr>
        <p:txBody>
          <a:bodyPr/>
          <a:lstStyle/>
          <a:p>
            <a:r>
              <a:rPr lang="en-AU" dirty="0" smtClean="0">
                <a:solidFill>
                  <a:schemeClr val="accent1">
                    <a:lumMod val="75000"/>
                  </a:schemeClr>
                </a:solidFill>
              </a:rPr>
              <a:t>CSS &amp; JAVASCRIPT</a:t>
            </a:r>
            <a:endParaRPr lang="en-AU" dirty="0">
              <a:solidFill>
                <a:schemeClr val="accent1">
                  <a:lumMod val="75000"/>
                </a:schemeClr>
              </a:solidFill>
            </a:endParaRPr>
          </a:p>
        </p:txBody>
      </p:sp>
      <p:sp>
        <p:nvSpPr>
          <p:cNvPr id="4" name="Rectangle 3"/>
          <p:cNvSpPr/>
          <p:nvPr/>
        </p:nvSpPr>
        <p:spPr>
          <a:xfrm>
            <a:off x="2714612" y="4622375"/>
            <a:ext cx="6249876" cy="707886"/>
          </a:xfrm>
          <a:prstGeom prst="rect">
            <a:avLst/>
          </a:prstGeom>
        </p:spPr>
        <p:txBody>
          <a:bodyPr wrap="square">
            <a:spAutoFit/>
          </a:bodyPr>
          <a:lstStyle/>
          <a:p>
            <a:pPr>
              <a:defRPr/>
            </a:pPr>
            <a:r>
              <a:rPr lang="en-US" sz="2000" b="1" dirty="0" smtClean="0">
                <a:solidFill>
                  <a:schemeClr val="accent4">
                    <a:lumMod val="75000"/>
                  </a:schemeClr>
                </a:solidFill>
              </a:rPr>
              <a:t>UNIT-1 </a:t>
            </a:r>
          </a:p>
          <a:p>
            <a:pPr>
              <a:defRPr/>
            </a:pPr>
            <a:r>
              <a:rPr lang="en-US" sz="2000" b="1" dirty="0">
                <a:solidFill>
                  <a:schemeClr val="accent4">
                    <a:lumMod val="75000"/>
                  </a:schemeClr>
                </a:solidFill>
              </a:rPr>
              <a:t>Various types of CSS with its basic properties</a:t>
            </a:r>
          </a:p>
        </p:txBody>
      </p:sp>
      <p:sp>
        <p:nvSpPr>
          <p:cNvPr id="5" name="Rectangle 4"/>
          <p:cNvSpPr/>
          <p:nvPr/>
        </p:nvSpPr>
        <p:spPr>
          <a:xfrm>
            <a:off x="2726266" y="6021288"/>
            <a:ext cx="5601804" cy="707886"/>
          </a:xfrm>
          <a:prstGeom prst="rect">
            <a:avLst/>
          </a:prstGeom>
        </p:spPr>
        <p:txBody>
          <a:bodyPr wrap="square">
            <a:spAutoFit/>
          </a:bodyPr>
          <a:lstStyle/>
          <a:p>
            <a:pPr algn="r">
              <a:defRPr/>
            </a:pPr>
            <a:r>
              <a:rPr lang="en-US" sz="2000" b="1" dirty="0" smtClean="0">
                <a:solidFill>
                  <a:schemeClr val="accent6">
                    <a:lumMod val="75000"/>
                  </a:schemeClr>
                </a:solidFill>
              </a:rPr>
              <a:t>Prepared By:</a:t>
            </a:r>
            <a:endParaRPr lang="en-US" sz="2000" b="1" dirty="0">
              <a:solidFill>
                <a:schemeClr val="accent6">
                  <a:lumMod val="75000"/>
                </a:schemeClr>
              </a:solidFill>
            </a:endParaRPr>
          </a:p>
          <a:p>
            <a:pPr algn="r">
              <a:defRPr/>
            </a:pPr>
            <a:r>
              <a:rPr lang="en-US" sz="2000" b="1" dirty="0" smtClean="0">
                <a:solidFill>
                  <a:schemeClr val="accent6">
                    <a:lumMod val="75000"/>
                  </a:schemeClr>
                </a:solidFill>
              </a:rPr>
              <a:t>Konica </a:t>
            </a:r>
            <a:r>
              <a:rPr lang="en-US" sz="2000" b="1" dirty="0" err="1" smtClean="0">
                <a:solidFill>
                  <a:schemeClr val="accent6">
                    <a:lumMod val="75000"/>
                  </a:schemeClr>
                </a:solidFill>
              </a:rPr>
              <a:t>Soni</a:t>
            </a:r>
            <a:endParaRPr lang="en-US" sz="2000" b="1" dirty="0" smtClean="0">
              <a:solidFill>
                <a:schemeClr val="accent6">
                  <a:lumMod val="75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7"/>
          <p:cNvGraphicFramePr>
            <a:graphicFrameLocks noGrp="1"/>
          </p:cNvGraphicFramePr>
          <p:nvPr>
            <p:ph idx="1"/>
            <p:extLst>
              <p:ext uri="{D42A27DB-BD31-4B8C-83A1-F6EECF244321}">
                <p14:modId xmlns:p14="http://schemas.microsoft.com/office/powerpoint/2010/main" val="4254863304"/>
              </p:ext>
            </p:extLst>
          </p:nvPr>
        </p:nvGraphicFramePr>
        <p:xfrm>
          <a:off x="107504" y="1052736"/>
          <a:ext cx="8352928" cy="3701336"/>
        </p:xfrm>
        <a:graphic>
          <a:graphicData uri="http://schemas.openxmlformats.org/drawingml/2006/table">
            <a:tbl>
              <a:tblPr firstRow="1" firstCol="1" lastRow="1" lastCol="1" bandRow="1" bandCol="1">
                <a:tableStyleId>{BC89EF96-8CEA-46FF-86C4-4CE0E7609802}</a:tableStyleId>
              </a:tblPr>
              <a:tblGrid>
                <a:gridCol w="1309565">
                  <a:extLst>
                    <a:ext uri="{9D8B030D-6E8A-4147-A177-3AD203B41FA5}">
                      <a16:colId xmlns:a16="http://schemas.microsoft.com/office/drawing/2014/main" val="3001005352"/>
                    </a:ext>
                  </a:extLst>
                </a:gridCol>
                <a:gridCol w="507583">
                  <a:extLst>
                    <a:ext uri="{9D8B030D-6E8A-4147-A177-3AD203B41FA5}">
                      <a16:colId xmlns:a16="http://schemas.microsoft.com/office/drawing/2014/main" val="1725737888"/>
                    </a:ext>
                  </a:extLst>
                </a:gridCol>
                <a:gridCol w="619254">
                  <a:extLst>
                    <a:ext uri="{9D8B030D-6E8A-4147-A177-3AD203B41FA5}">
                      <a16:colId xmlns:a16="http://schemas.microsoft.com/office/drawing/2014/main" val="3387278969"/>
                    </a:ext>
                  </a:extLst>
                </a:gridCol>
                <a:gridCol w="487278">
                  <a:extLst>
                    <a:ext uri="{9D8B030D-6E8A-4147-A177-3AD203B41FA5}">
                      <a16:colId xmlns:a16="http://schemas.microsoft.com/office/drawing/2014/main" val="3537452584"/>
                    </a:ext>
                  </a:extLst>
                </a:gridCol>
                <a:gridCol w="507583">
                  <a:extLst>
                    <a:ext uri="{9D8B030D-6E8A-4147-A177-3AD203B41FA5}">
                      <a16:colId xmlns:a16="http://schemas.microsoft.com/office/drawing/2014/main" val="3150232665"/>
                    </a:ext>
                  </a:extLst>
                </a:gridCol>
                <a:gridCol w="527887">
                  <a:extLst>
                    <a:ext uri="{9D8B030D-6E8A-4147-A177-3AD203B41FA5}">
                      <a16:colId xmlns:a16="http://schemas.microsoft.com/office/drawing/2014/main" val="1894808885"/>
                    </a:ext>
                  </a:extLst>
                </a:gridCol>
                <a:gridCol w="619253">
                  <a:extLst>
                    <a:ext uri="{9D8B030D-6E8A-4147-A177-3AD203B41FA5}">
                      <a16:colId xmlns:a16="http://schemas.microsoft.com/office/drawing/2014/main" val="2376532872"/>
                    </a:ext>
                  </a:extLst>
                </a:gridCol>
                <a:gridCol w="659859">
                  <a:extLst>
                    <a:ext uri="{9D8B030D-6E8A-4147-A177-3AD203B41FA5}">
                      <a16:colId xmlns:a16="http://schemas.microsoft.com/office/drawing/2014/main" val="4008475397"/>
                    </a:ext>
                  </a:extLst>
                </a:gridCol>
                <a:gridCol w="781678">
                  <a:extLst>
                    <a:ext uri="{9D8B030D-6E8A-4147-A177-3AD203B41FA5}">
                      <a16:colId xmlns:a16="http://schemas.microsoft.com/office/drawing/2014/main" val="551147193"/>
                    </a:ext>
                  </a:extLst>
                </a:gridCol>
                <a:gridCol w="751483">
                  <a:extLst>
                    <a:ext uri="{9D8B030D-6E8A-4147-A177-3AD203B41FA5}">
                      <a16:colId xmlns:a16="http://schemas.microsoft.com/office/drawing/2014/main" val="2102978911"/>
                    </a:ext>
                  </a:extLst>
                </a:gridCol>
                <a:gridCol w="717409">
                  <a:extLst>
                    <a:ext uri="{9D8B030D-6E8A-4147-A177-3AD203B41FA5}">
                      <a16:colId xmlns:a16="http://schemas.microsoft.com/office/drawing/2014/main" val="2885147333"/>
                    </a:ext>
                  </a:extLst>
                </a:gridCol>
                <a:gridCol w="864096">
                  <a:extLst>
                    <a:ext uri="{9D8B030D-6E8A-4147-A177-3AD203B41FA5}">
                      <a16:colId xmlns:a16="http://schemas.microsoft.com/office/drawing/2014/main" val="2912113827"/>
                    </a:ext>
                  </a:extLst>
                </a:gridCol>
              </a:tblGrid>
              <a:tr h="625223">
                <a:tc rowSpan="4">
                  <a:txBody>
                    <a:bodyPr/>
                    <a:lstStyle/>
                    <a:p>
                      <a:pPr algn="ctr">
                        <a:spcAft>
                          <a:spcPts val="0"/>
                        </a:spcAft>
                      </a:pPr>
                      <a:r>
                        <a:rPr lang="en-US" sz="1600" dirty="0">
                          <a:effectLst/>
                        </a:rPr>
                        <a:t> </a:t>
                      </a:r>
                      <a:endParaRPr lang="en-IN" sz="2400" dirty="0">
                        <a:effectLst/>
                      </a:endParaRPr>
                    </a:p>
                    <a:p>
                      <a:pPr algn="ctr">
                        <a:spcAft>
                          <a:spcPts val="0"/>
                        </a:spcAft>
                      </a:pPr>
                      <a:r>
                        <a:rPr lang="en-US" sz="1600" dirty="0">
                          <a:effectLst/>
                        </a:rPr>
                        <a:t> </a:t>
                      </a:r>
                      <a:endParaRPr lang="en-IN" sz="2400" dirty="0">
                        <a:effectLst/>
                      </a:endParaRPr>
                    </a:p>
                    <a:p>
                      <a:pPr algn="ctr">
                        <a:spcAft>
                          <a:spcPts val="0"/>
                        </a:spcAft>
                      </a:pPr>
                      <a:r>
                        <a:rPr lang="en-US" sz="1600" dirty="0">
                          <a:effectLst/>
                        </a:rPr>
                        <a:t> </a:t>
                      </a:r>
                      <a:endParaRPr lang="en-IN" sz="2400" dirty="0">
                        <a:effectLst/>
                      </a:endParaRPr>
                    </a:p>
                    <a:p>
                      <a:pPr algn="ctr">
                        <a:spcAft>
                          <a:spcPts val="0"/>
                        </a:spcAft>
                      </a:pPr>
                      <a:r>
                        <a:rPr lang="en-US" sz="1600" dirty="0" smtClean="0">
                          <a:effectLst/>
                        </a:rPr>
                        <a:t> </a:t>
                      </a:r>
                      <a:endParaRPr lang="en-IN" sz="2400" dirty="0" smtClean="0">
                        <a:effectLst/>
                      </a:endParaRPr>
                    </a:p>
                    <a:p>
                      <a:pPr algn="ctr">
                        <a:spcAft>
                          <a:spcPts val="0"/>
                        </a:spcAft>
                      </a:pPr>
                      <a:endParaRPr lang="en-IN" sz="2400" dirty="0" smtClean="0">
                        <a:effectLst/>
                      </a:endParaRPr>
                    </a:p>
                    <a:p>
                      <a:pPr algn="ctr">
                        <a:spcAft>
                          <a:spcPts val="0"/>
                        </a:spcAft>
                      </a:pPr>
                      <a:endParaRPr lang="en-IN" sz="2400" dirty="0" smtClean="0">
                        <a:effectLst/>
                      </a:endParaRPr>
                    </a:p>
                    <a:p>
                      <a:pPr algn="ctr">
                        <a:spcAft>
                          <a:spcPts val="0"/>
                        </a:spcAft>
                      </a:pPr>
                      <a:r>
                        <a:rPr lang="en-IN" sz="2400" baseline="0" dirty="0" smtClean="0">
                          <a:effectLst/>
                        </a:rPr>
                        <a:t> </a:t>
                      </a:r>
                      <a:r>
                        <a:rPr lang="en-US" sz="1600" dirty="0" smtClean="0">
                          <a:effectLst/>
                        </a:rPr>
                        <a:t>Course</a:t>
                      </a:r>
                      <a:r>
                        <a:rPr lang="en-US" sz="1600" spc="20" dirty="0" smtClean="0">
                          <a:effectLst/>
                        </a:rPr>
                        <a:t> </a:t>
                      </a:r>
                      <a:r>
                        <a:rPr lang="en-US" sz="1600" dirty="0" smtClean="0">
                          <a:effectLst/>
                        </a:rPr>
                        <a:t>Title</a:t>
                      </a:r>
                      <a:endParaRPr lang="en-IN" sz="2400"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spcBef>
                          <a:spcPts val="50"/>
                        </a:spcBef>
                        <a:spcAft>
                          <a:spcPts val="0"/>
                        </a:spcAft>
                      </a:pPr>
                      <a:r>
                        <a:rPr lang="en-US" sz="1200" dirty="0">
                          <a:effectLst/>
                        </a:rPr>
                        <a:t> </a:t>
                      </a:r>
                      <a:endParaRPr lang="en-IN" sz="2400" dirty="0">
                        <a:effectLst/>
                      </a:endParaRPr>
                    </a:p>
                    <a:p>
                      <a:pPr marL="479425" algn="ctr">
                        <a:spcAft>
                          <a:spcPts val="0"/>
                        </a:spcAft>
                      </a:pPr>
                      <a:r>
                        <a:rPr lang="en-US" sz="1600" spc="-5" dirty="0">
                          <a:effectLst/>
                        </a:rPr>
                        <a:t>Teaching</a:t>
                      </a:r>
                      <a:r>
                        <a:rPr lang="en-US" sz="1600" spc="-45" dirty="0">
                          <a:effectLst/>
                        </a:rPr>
                        <a:t> </a:t>
                      </a:r>
                      <a:r>
                        <a:rPr lang="en-US" sz="1600" spc="-5" dirty="0">
                          <a:effectLst/>
                        </a:rPr>
                        <a:t>Scheme</a:t>
                      </a:r>
                      <a:endParaRPr lang="en-IN" sz="2400"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gridSpan="7">
                  <a:txBody>
                    <a:bodyPr/>
                    <a:lstStyle/>
                    <a:p>
                      <a:pPr algn="ctr">
                        <a:spcBef>
                          <a:spcPts val="50"/>
                        </a:spcBef>
                        <a:spcAft>
                          <a:spcPts val="0"/>
                        </a:spcAft>
                      </a:pPr>
                      <a:r>
                        <a:rPr lang="en-US" sz="1200" dirty="0">
                          <a:effectLst/>
                        </a:rPr>
                        <a:t> </a:t>
                      </a:r>
                      <a:endParaRPr lang="en-IN" sz="2400" dirty="0">
                        <a:effectLst/>
                      </a:endParaRPr>
                    </a:p>
                    <a:p>
                      <a:pPr marL="1343025" algn="ctr">
                        <a:spcAft>
                          <a:spcPts val="0"/>
                        </a:spcAft>
                      </a:pPr>
                      <a:r>
                        <a:rPr lang="en-US" sz="1600" spc="-5" dirty="0">
                          <a:effectLst/>
                        </a:rPr>
                        <a:t>Examination</a:t>
                      </a:r>
                      <a:r>
                        <a:rPr lang="en-US" sz="1600" spc="-50" dirty="0">
                          <a:effectLst/>
                        </a:rPr>
                        <a:t> </a:t>
                      </a:r>
                      <a:r>
                        <a:rPr lang="en-US" sz="1600" dirty="0">
                          <a:effectLst/>
                        </a:rPr>
                        <a:t>Scheme</a:t>
                      </a:r>
                      <a:endParaRPr lang="en-IN" sz="2400"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235172885"/>
                  </a:ext>
                </a:extLst>
              </a:tr>
              <a:tr h="625223">
                <a:tc vMerge="1">
                  <a:txBody>
                    <a:bodyPr/>
                    <a:lstStyle/>
                    <a:p>
                      <a:endParaRPr lang="en-IN"/>
                    </a:p>
                  </a:txBody>
                  <a:tcPr/>
                </a:tc>
                <a:tc gridSpan="3">
                  <a:txBody>
                    <a:bodyPr/>
                    <a:lstStyle/>
                    <a:p>
                      <a:pPr algn="ctr">
                        <a:spcBef>
                          <a:spcPts val="50"/>
                        </a:spcBef>
                        <a:spcAft>
                          <a:spcPts val="0"/>
                        </a:spcAft>
                      </a:pPr>
                      <a:r>
                        <a:rPr lang="en-US" sz="1200" b="1" dirty="0">
                          <a:effectLst/>
                        </a:rPr>
                        <a:t> </a:t>
                      </a:r>
                      <a:endParaRPr lang="en-IN" sz="2400" b="1" dirty="0">
                        <a:effectLst/>
                      </a:endParaRPr>
                    </a:p>
                    <a:p>
                      <a:pPr marL="328295" algn="ctr">
                        <a:spcAft>
                          <a:spcPts val="0"/>
                        </a:spcAft>
                      </a:pPr>
                      <a:r>
                        <a:rPr lang="en-US" sz="1600" b="1" dirty="0">
                          <a:effectLst/>
                        </a:rPr>
                        <a:t>Contact</a:t>
                      </a:r>
                      <a:r>
                        <a:rPr lang="en-US" sz="1600" b="1" spc="25" dirty="0">
                          <a:effectLst/>
                        </a:rPr>
                        <a:t> </a:t>
                      </a:r>
                      <a:r>
                        <a:rPr lang="en-US" sz="1600" b="1" dirty="0">
                          <a:effectLst/>
                        </a:rPr>
                        <a:t>Hours</a:t>
                      </a:r>
                      <a:endParaRPr lang="en-IN" sz="2400" b="1"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hMerge="1">
                  <a:txBody>
                    <a:bodyPr/>
                    <a:lstStyle/>
                    <a:p>
                      <a:endParaRPr lang="en-IN"/>
                    </a:p>
                  </a:txBody>
                  <a:tcPr/>
                </a:tc>
                <a:tc hMerge="1">
                  <a:txBody>
                    <a:bodyPr/>
                    <a:lstStyle/>
                    <a:p>
                      <a:endParaRPr lang="en-IN"/>
                    </a:p>
                  </a:txBody>
                  <a:tcPr/>
                </a:tc>
                <a:tc rowSpan="3">
                  <a:txBody>
                    <a:bodyPr/>
                    <a:lstStyle/>
                    <a:p>
                      <a:pPr algn="ctr">
                        <a:spcAft>
                          <a:spcPts val="0"/>
                        </a:spcAft>
                      </a:pPr>
                      <a:r>
                        <a:rPr lang="en-US" sz="1600" b="1">
                          <a:effectLst/>
                        </a:rPr>
                        <a:t> </a:t>
                      </a:r>
                      <a:endParaRPr lang="en-IN" sz="2400" b="1">
                        <a:effectLst/>
                      </a:endParaRPr>
                    </a:p>
                    <a:p>
                      <a:pPr algn="ctr">
                        <a:spcAft>
                          <a:spcPts val="0"/>
                        </a:spcAft>
                      </a:pPr>
                      <a:r>
                        <a:rPr lang="en-US" sz="1600" b="1">
                          <a:effectLst/>
                        </a:rPr>
                        <a:t> </a:t>
                      </a:r>
                      <a:endParaRPr lang="en-IN" sz="2400" b="1">
                        <a:effectLst/>
                      </a:endParaRPr>
                    </a:p>
                    <a:p>
                      <a:pPr algn="ctr">
                        <a:spcAft>
                          <a:spcPts val="0"/>
                        </a:spcAft>
                      </a:pPr>
                      <a:r>
                        <a:rPr lang="en-US" sz="1600" b="1">
                          <a:effectLst/>
                        </a:rPr>
                        <a:t> </a:t>
                      </a:r>
                      <a:endParaRPr lang="en-IN" sz="2400" b="1">
                        <a:effectLst/>
                      </a:endParaRPr>
                    </a:p>
                    <a:p>
                      <a:pPr algn="ctr">
                        <a:spcBef>
                          <a:spcPts val="35"/>
                        </a:spcBef>
                        <a:spcAft>
                          <a:spcPts val="0"/>
                        </a:spcAft>
                      </a:pPr>
                      <a:r>
                        <a:rPr lang="en-US" sz="2400" b="1">
                          <a:effectLst/>
                        </a:rPr>
                        <a:t> </a:t>
                      </a:r>
                      <a:endParaRPr lang="en-IN" sz="2400" b="1">
                        <a:effectLst/>
                      </a:endParaRPr>
                    </a:p>
                    <a:p>
                      <a:pPr marL="69850" algn="ctr">
                        <a:spcAft>
                          <a:spcPts val="0"/>
                        </a:spcAft>
                      </a:pPr>
                      <a:r>
                        <a:rPr lang="en-US" sz="1600" b="1">
                          <a:effectLst/>
                        </a:rPr>
                        <a:t>Credit</a:t>
                      </a:r>
                      <a:endParaRPr lang="en-IN" sz="2400" b="1">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gridSpan="3">
                  <a:txBody>
                    <a:bodyPr/>
                    <a:lstStyle/>
                    <a:p>
                      <a:pPr algn="ctr">
                        <a:spcBef>
                          <a:spcPts val="50"/>
                        </a:spcBef>
                        <a:spcAft>
                          <a:spcPts val="0"/>
                        </a:spcAft>
                      </a:pPr>
                      <a:r>
                        <a:rPr lang="en-US" sz="1200" b="1">
                          <a:effectLst/>
                        </a:rPr>
                        <a:t> </a:t>
                      </a:r>
                      <a:endParaRPr lang="en-IN" sz="2400" b="1">
                        <a:effectLst/>
                      </a:endParaRPr>
                    </a:p>
                    <a:p>
                      <a:pPr marL="549910" marR="508000" algn="ctr">
                        <a:spcAft>
                          <a:spcPts val="0"/>
                        </a:spcAft>
                      </a:pPr>
                      <a:r>
                        <a:rPr lang="en-US" sz="1600" b="1">
                          <a:effectLst/>
                        </a:rPr>
                        <a:t>Theory</a:t>
                      </a:r>
                      <a:endParaRPr lang="en-IN" sz="2400" b="1">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hMerge="1">
                  <a:txBody>
                    <a:bodyPr/>
                    <a:lstStyle/>
                    <a:p>
                      <a:endParaRPr lang="en-IN"/>
                    </a:p>
                  </a:txBody>
                  <a:tcPr/>
                </a:tc>
                <a:tc hMerge="1">
                  <a:txBody>
                    <a:bodyPr/>
                    <a:lstStyle/>
                    <a:p>
                      <a:endParaRPr lang="en-IN"/>
                    </a:p>
                  </a:txBody>
                  <a:tcPr/>
                </a:tc>
                <a:tc gridSpan="3">
                  <a:txBody>
                    <a:bodyPr/>
                    <a:lstStyle/>
                    <a:p>
                      <a:pPr algn="ctr">
                        <a:spcBef>
                          <a:spcPts val="50"/>
                        </a:spcBef>
                        <a:spcAft>
                          <a:spcPts val="0"/>
                        </a:spcAft>
                      </a:pPr>
                      <a:r>
                        <a:rPr lang="en-US" sz="1200" b="1">
                          <a:effectLst/>
                        </a:rPr>
                        <a:t> </a:t>
                      </a:r>
                      <a:endParaRPr lang="en-IN" sz="2400" b="1">
                        <a:effectLst/>
                      </a:endParaRPr>
                    </a:p>
                    <a:p>
                      <a:pPr marL="424180" algn="ctr">
                        <a:spcAft>
                          <a:spcPts val="0"/>
                        </a:spcAft>
                      </a:pPr>
                      <a:r>
                        <a:rPr lang="en-US" sz="1600" b="1">
                          <a:effectLst/>
                        </a:rPr>
                        <a:t>Practical</a:t>
                      </a:r>
                      <a:endParaRPr lang="en-IN" sz="2400" b="1">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hMerge="1">
                  <a:txBody>
                    <a:bodyPr/>
                    <a:lstStyle/>
                    <a:p>
                      <a:endParaRPr lang="en-IN"/>
                    </a:p>
                  </a:txBody>
                  <a:tcPr/>
                </a:tc>
                <a:tc hMerge="1">
                  <a:txBody>
                    <a:bodyPr/>
                    <a:lstStyle/>
                    <a:p>
                      <a:endParaRPr lang="en-IN"/>
                    </a:p>
                  </a:txBody>
                  <a:tcPr/>
                </a:tc>
                <a:tc>
                  <a:txBody>
                    <a:bodyPr/>
                    <a:lstStyle/>
                    <a:p>
                      <a:pPr algn="ctr">
                        <a:spcBef>
                          <a:spcPts val="50"/>
                        </a:spcBef>
                        <a:spcAft>
                          <a:spcPts val="0"/>
                        </a:spcAft>
                      </a:pPr>
                      <a:r>
                        <a:rPr lang="en-US" sz="1200">
                          <a:effectLst/>
                        </a:rPr>
                        <a:t> </a:t>
                      </a:r>
                      <a:endParaRPr lang="en-IN" sz="2400">
                        <a:effectLst/>
                      </a:endParaRPr>
                    </a:p>
                    <a:p>
                      <a:pPr marL="90170" algn="ctr">
                        <a:spcAft>
                          <a:spcPts val="0"/>
                        </a:spcAft>
                      </a:pPr>
                      <a:r>
                        <a:rPr lang="en-US" sz="1600">
                          <a:effectLst/>
                        </a:rPr>
                        <a:t>Total</a:t>
                      </a:r>
                      <a:endParaRPr lang="en-IN" sz="240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335350925"/>
                  </a:ext>
                </a:extLst>
              </a:tr>
              <a:tr h="456627">
                <a:tc vMerge="1">
                  <a:txBody>
                    <a:bodyPr/>
                    <a:lstStyle/>
                    <a:p>
                      <a:endParaRPr lang="en-IN"/>
                    </a:p>
                  </a:txBody>
                  <a:tcPr/>
                </a:tc>
                <a:tc rowSpan="2">
                  <a:txBody>
                    <a:bodyPr/>
                    <a:lstStyle/>
                    <a:p>
                      <a:pPr algn="ctr">
                        <a:spcAft>
                          <a:spcPts val="0"/>
                        </a:spcAft>
                      </a:pPr>
                      <a:r>
                        <a:rPr lang="en-US" sz="1600" b="1" dirty="0">
                          <a:effectLst/>
                        </a:rPr>
                        <a:t> </a:t>
                      </a:r>
                      <a:endParaRPr lang="en-IN" sz="2400" b="1" dirty="0">
                        <a:effectLst/>
                      </a:endParaRPr>
                    </a:p>
                    <a:p>
                      <a:pPr algn="ctr">
                        <a:spcBef>
                          <a:spcPts val="50"/>
                        </a:spcBef>
                        <a:spcAft>
                          <a:spcPts val="0"/>
                        </a:spcAft>
                      </a:pPr>
                      <a:r>
                        <a:rPr lang="en-US" sz="1600" b="1" dirty="0">
                          <a:effectLst/>
                        </a:rPr>
                        <a:t> </a:t>
                      </a:r>
                      <a:endParaRPr lang="en-IN" sz="2400" b="1" dirty="0">
                        <a:effectLst/>
                      </a:endParaRPr>
                    </a:p>
                    <a:p>
                      <a:pPr marL="68580" algn="ctr">
                        <a:spcBef>
                          <a:spcPts val="5"/>
                        </a:spcBef>
                        <a:spcAft>
                          <a:spcPts val="0"/>
                        </a:spcAft>
                      </a:pPr>
                      <a:r>
                        <a:rPr lang="en-US" sz="1600" b="1" dirty="0">
                          <a:effectLst/>
                        </a:rPr>
                        <a:t>Theory</a:t>
                      </a:r>
                      <a:endParaRPr lang="en-IN" sz="2400" b="1"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rowSpan="2">
                  <a:txBody>
                    <a:bodyPr/>
                    <a:lstStyle/>
                    <a:p>
                      <a:pPr algn="ctr">
                        <a:spcAft>
                          <a:spcPts val="0"/>
                        </a:spcAft>
                      </a:pPr>
                      <a:r>
                        <a:rPr lang="en-US" sz="1600" b="1" dirty="0">
                          <a:effectLst/>
                        </a:rPr>
                        <a:t> </a:t>
                      </a:r>
                      <a:endParaRPr lang="en-IN" sz="2400" b="1" dirty="0">
                        <a:effectLst/>
                      </a:endParaRPr>
                    </a:p>
                    <a:p>
                      <a:pPr algn="ctr">
                        <a:spcBef>
                          <a:spcPts val="50"/>
                        </a:spcBef>
                        <a:spcAft>
                          <a:spcPts val="0"/>
                        </a:spcAft>
                      </a:pPr>
                      <a:r>
                        <a:rPr lang="en-US" sz="1600" b="1" dirty="0">
                          <a:effectLst/>
                        </a:rPr>
                        <a:t> </a:t>
                      </a:r>
                      <a:endParaRPr lang="en-IN" sz="2400" b="1" dirty="0">
                        <a:effectLst/>
                      </a:endParaRPr>
                    </a:p>
                    <a:p>
                      <a:pPr marL="76835" algn="ctr">
                        <a:spcBef>
                          <a:spcPts val="5"/>
                        </a:spcBef>
                        <a:spcAft>
                          <a:spcPts val="0"/>
                        </a:spcAft>
                      </a:pPr>
                      <a:r>
                        <a:rPr lang="en-US" sz="1600" b="1" dirty="0">
                          <a:effectLst/>
                        </a:rPr>
                        <a:t>Practical</a:t>
                      </a:r>
                      <a:endParaRPr lang="en-IN" sz="2400" b="1"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rowSpan="2">
                  <a:txBody>
                    <a:bodyPr/>
                    <a:lstStyle/>
                    <a:p>
                      <a:pPr algn="ctr">
                        <a:spcAft>
                          <a:spcPts val="0"/>
                        </a:spcAft>
                      </a:pPr>
                      <a:r>
                        <a:rPr lang="en-US" sz="1600" b="1" dirty="0">
                          <a:effectLst/>
                        </a:rPr>
                        <a:t> </a:t>
                      </a:r>
                      <a:endParaRPr lang="en-IN" sz="2400" b="1" dirty="0">
                        <a:effectLst/>
                      </a:endParaRPr>
                    </a:p>
                    <a:p>
                      <a:pPr algn="ctr">
                        <a:spcBef>
                          <a:spcPts val="50"/>
                        </a:spcBef>
                        <a:spcAft>
                          <a:spcPts val="0"/>
                        </a:spcAft>
                      </a:pPr>
                      <a:r>
                        <a:rPr lang="en-US" sz="1600" b="1" dirty="0">
                          <a:effectLst/>
                        </a:rPr>
                        <a:t> </a:t>
                      </a:r>
                      <a:endParaRPr lang="en-IN" sz="2400" b="1" dirty="0">
                        <a:effectLst/>
                      </a:endParaRPr>
                    </a:p>
                    <a:p>
                      <a:pPr marL="69850" algn="ctr">
                        <a:spcBef>
                          <a:spcPts val="5"/>
                        </a:spcBef>
                        <a:spcAft>
                          <a:spcPts val="0"/>
                        </a:spcAft>
                      </a:pPr>
                      <a:r>
                        <a:rPr lang="en-US" sz="1600" b="1" dirty="0">
                          <a:effectLst/>
                        </a:rPr>
                        <a:t>Total</a:t>
                      </a:r>
                      <a:endParaRPr lang="en-IN" sz="2400" b="1"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vMerge="1">
                  <a:txBody>
                    <a:bodyPr/>
                    <a:lstStyle/>
                    <a:p>
                      <a:endParaRPr lang="en-IN"/>
                    </a:p>
                  </a:txBody>
                  <a:tcPr/>
                </a:tc>
                <a:tc gridSpan="2">
                  <a:txBody>
                    <a:bodyPr/>
                    <a:lstStyle/>
                    <a:p>
                      <a:pPr algn="ctr">
                        <a:spcBef>
                          <a:spcPts val="50"/>
                        </a:spcBef>
                        <a:spcAft>
                          <a:spcPts val="0"/>
                        </a:spcAft>
                      </a:pPr>
                      <a:r>
                        <a:rPr lang="en-US" sz="1200" b="1" dirty="0">
                          <a:effectLst/>
                        </a:rPr>
                        <a:t> </a:t>
                      </a:r>
                      <a:endParaRPr lang="en-IN" sz="2400" b="1" dirty="0">
                        <a:effectLst/>
                      </a:endParaRPr>
                    </a:p>
                    <a:p>
                      <a:pPr marL="262255" algn="ctr">
                        <a:spcAft>
                          <a:spcPts val="0"/>
                        </a:spcAft>
                      </a:pPr>
                      <a:r>
                        <a:rPr lang="en-US" sz="1600" b="1" dirty="0">
                          <a:effectLst/>
                        </a:rPr>
                        <a:t>Internal</a:t>
                      </a:r>
                      <a:endParaRPr lang="en-IN" sz="2400" b="1"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hMerge="1">
                  <a:txBody>
                    <a:bodyPr/>
                    <a:lstStyle/>
                    <a:p>
                      <a:endParaRPr lang="en-IN"/>
                    </a:p>
                  </a:txBody>
                  <a:tcPr/>
                </a:tc>
                <a:tc rowSpan="2">
                  <a:txBody>
                    <a:bodyPr/>
                    <a:lstStyle/>
                    <a:p>
                      <a:pPr algn="ctr">
                        <a:spcAft>
                          <a:spcPts val="0"/>
                        </a:spcAft>
                      </a:pPr>
                      <a:r>
                        <a:rPr lang="en-US" sz="1600" b="1" dirty="0">
                          <a:effectLst/>
                        </a:rPr>
                        <a:t> </a:t>
                      </a:r>
                      <a:endParaRPr lang="en-IN" sz="2400" b="1" dirty="0">
                        <a:effectLst/>
                      </a:endParaRPr>
                    </a:p>
                    <a:p>
                      <a:pPr algn="ctr">
                        <a:spcBef>
                          <a:spcPts val="50"/>
                        </a:spcBef>
                        <a:spcAft>
                          <a:spcPts val="0"/>
                        </a:spcAft>
                      </a:pPr>
                      <a:r>
                        <a:rPr lang="en-US" sz="1600" b="1" dirty="0">
                          <a:effectLst/>
                        </a:rPr>
                        <a:t> </a:t>
                      </a:r>
                      <a:endParaRPr lang="en-IN" sz="2400" b="1" dirty="0">
                        <a:effectLst/>
                      </a:endParaRPr>
                    </a:p>
                    <a:p>
                      <a:pPr marL="71120" algn="ctr">
                        <a:spcBef>
                          <a:spcPts val="5"/>
                        </a:spcBef>
                        <a:spcAft>
                          <a:spcPts val="0"/>
                        </a:spcAft>
                      </a:pPr>
                      <a:r>
                        <a:rPr lang="en-US" sz="1600" b="1" dirty="0">
                          <a:effectLst/>
                        </a:rPr>
                        <a:t>External</a:t>
                      </a:r>
                      <a:endParaRPr lang="en-IN" sz="2400" b="1"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gridSpan="2">
                  <a:txBody>
                    <a:bodyPr/>
                    <a:lstStyle/>
                    <a:p>
                      <a:pPr algn="ctr">
                        <a:spcBef>
                          <a:spcPts val="50"/>
                        </a:spcBef>
                        <a:spcAft>
                          <a:spcPts val="0"/>
                        </a:spcAft>
                      </a:pPr>
                      <a:r>
                        <a:rPr lang="en-US" sz="1200" b="1" dirty="0">
                          <a:effectLst/>
                        </a:rPr>
                        <a:t> </a:t>
                      </a:r>
                      <a:endParaRPr lang="en-IN" sz="2400" b="1" dirty="0">
                        <a:effectLst/>
                      </a:endParaRPr>
                    </a:p>
                    <a:p>
                      <a:pPr marL="179705" algn="ctr">
                        <a:spcAft>
                          <a:spcPts val="0"/>
                        </a:spcAft>
                      </a:pPr>
                      <a:r>
                        <a:rPr lang="en-US" sz="1600" b="1" dirty="0">
                          <a:effectLst/>
                        </a:rPr>
                        <a:t>Internal</a:t>
                      </a:r>
                      <a:endParaRPr lang="en-IN" sz="2400" b="1"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hMerge="1">
                  <a:txBody>
                    <a:bodyPr/>
                    <a:lstStyle/>
                    <a:p>
                      <a:endParaRPr lang="en-IN"/>
                    </a:p>
                  </a:txBody>
                  <a:tcPr/>
                </a:tc>
                <a:tc rowSpan="2">
                  <a:txBody>
                    <a:bodyPr/>
                    <a:lstStyle/>
                    <a:p>
                      <a:pPr algn="ctr">
                        <a:spcAft>
                          <a:spcPts val="0"/>
                        </a:spcAft>
                      </a:pPr>
                      <a:r>
                        <a:rPr lang="en-US" sz="1600" b="1" dirty="0">
                          <a:effectLst/>
                        </a:rPr>
                        <a:t> </a:t>
                      </a:r>
                      <a:endParaRPr lang="en-IN" sz="2400" b="1" dirty="0">
                        <a:effectLst/>
                      </a:endParaRPr>
                    </a:p>
                    <a:p>
                      <a:pPr algn="ctr">
                        <a:spcBef>
                          <a:spcPts val="50"/>
                        </a:spcBef>
                        <a:spcAft>
                          <a:spcPts val="0"/>
                        </a:spcAft>
                      </a:pPr>
                      <a:r>
                        <a:rPr lang="en-US" sz="1600" b="1" dirty="0">
                          <a:effectLst/>
                        </a:rPr>
                        <a:t> </a:t>
                      </a:r>
                      <a:endParaRPr lang="en-IN" sz="2400" b="1" dirty="0">
                        <a:effectLst/>
                      </a:endParaRPr>
                    </a:p>
                    <a:p>
                      <a:pPr marL="72390" algn="ctr">
                        <a:spcBef>
                          <a:spcPts val="5"/>
                        </a:spcBef>
                        <a:spcAft>
                          <a:spcPts val="0"/>
                        </a:spcAft>
                      </a:pPr>
                      <a:r>
                        <a:rPr lang="en-US" sz="1600" b="1" dirty="0">
                          <a:effectLst/>
                        </a:rPr>
                        <a:t>External</a:t>
                      </a:r>
                      <a:endParaRPr lang="en-IN" sz="2400" b="1"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rowSpan="2">
                  <a:txBody>
                    <a:bodyPr/>
                    <a:lstStyle/>
                    <a:p>
                      <a:pPr algn="ctr">
                        <a:spcAft>
                          <a:spcPts val="0"/>
                        </a:spcAft>
                      </a:pPr>
                      <a:r>
                        <a:rPr lang="en-US" sz="1600" dirty="0">
                          <a:effectLst/>
                        </a:rPr>
                        <a:t> </a:t>
                      </a:r>
                      <a:endParaRPr lang="en-IN" sz="2400"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953611735"/>
                  </a:ext>
                </a:extLst>
              </a:tr>
              <a:tr h="845708">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marL="83820" marR="36195" indent="28575" algn="ctr">
                        <a:lnSpc>
                          <a:spcPct val="93000"/>
                        </a:lnSpc>
                        <a:spcBef>
                          <a:spcPts val="440"/>
                        </a:spcBef>
                        <a:spcAft>
                          <a:spcPts val="0"/>
                        </a:spcAft>
                      </a:pPr>
                      <a:r>
                        <a:rPr lang="en-US" sz="1600" b="1" dirty="0">
                          <a:effectLst/>
                        </a:rPr>
                        <a:t>Case</a:t>
                      </a:r>
                      <a:r>
                        <a:rPr lang="en-US" sz="1600" b="1" spc="5" dirty="0">
                          <a:effectLst/>
                        </a:rPr>
                        <a:t> </a:t>
                      </a:r>
                      <a:r>
                        <a:rPr lang="en-US" sz="1600" b="1" dirty="0">
                          <a:effectLst/>
                        </a:rPr>
                        <a:t>Study</a:t>
                      </a:r>
                      <a:endParaRPr lang="en-IN" sz="2400" b="1"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72390" indent="40640" algn="ctr">
                        <a:lnSpc>
                          <a:spcPct val="93000"/>
                        </a:lnSpc>
                        <a:spcBef>
                          <a:spcPts val="440"/>
                        </a:spcBef>
                        <a:spcAft>
                          <a:spcPts val="0"/>
                        </a:spcAft>
                      </a:pPr>
                      <a:r>
                        <a:rPr lang="en-US" sz="1600" b="1" dirty="0">
                          <a:effectLst/>
                        </a:rPr>
                        <a:t>Tests/</a:t>
                      </a:r>
                      <a:r>
                        <a:rPr lang="en-US" sz="1600" b="1" spc="5" dirty="0">
                          <a:effectLst/>
                        </a:rPr>
                        <a:t> </a:t>
                      </a:r>
                      <a:r>
                        <a:rPr lang="en-US" sz="1600" b="1" dirty="0">
                          <a:effectLst/>
                        </a:rPr>
                        <a:t>Criteria</a:t>
                      </a:r>
                      <a:endParaRPr lang="en-IN" sz="2400" b="1"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vMerge="1">
                  <a:txBody>
                    <a:bodyPr/>
                    <a:lstStyle/>
                    <a:p>
                      <a:endParaRPr lang="en-IN"/>
                    </a:p>
                  </a:txBody>
                  <a:tcPr/>
                </a:tc>
                <a:tc>
                  <a:txBody>
                    <a:bodyPr/>
                    <a:lstStyle/>
                    <a:p>
                      <a:pPr marL="71755" marR="15240" algn="ctr">
                        <a:lnSpc>
                          <a:spcPct val="93000"/>
                        </a:lnSpc>
                        <a:spcBef>
                          <a:spcPts val="440"/>
                        </a:spcBef>
                        <a:spcAft>
                          <a:spcPts val="0"/>
                        </a:spcAft>
                      </a:pPr>
                      <a:r>
                        <a:rPr lang="en-US" sz="1600" b="1" dirty="0">
                          <a:effectLst/>
                        </a:rPr>
                        <a:t>Term</a:t>
                      </a:r>
                      <a:r>
                        <a:rPr lang="en-US" sz="1600" b="1" spc="-200" dirty="0">
                          <a:effectLst/>
                        </a:rPr>
                        <a:t> </a:t>
                      </a:r>
                      <a:r>
                        <a:rPr lang="en-US" sz="1600" b="1" spc="-5" dirty="0">
                          <a:effectLst/>
                        </a:rPr>
                        <a:t>work</a:t>
                      </a:r>
                      <a:endParaRPr lang="en-IN" sz="2400" b="1"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spcBef>
                          <a:spcPts val="50"/>
                        </a:spcBef>
                        <a:spcAft>
                          <a:spcPts val="0"/>
                        </a:spcAft>
                      </a:pPr>
                      <a:r>
                        <a:rPr lang="en-US" sz="1200" b="1" dirty="0">
                          <a:effectLst/>
                        </a:rPr>
                        <a:t> </a:t>
                      </a:r>
                      <a:endParaRPr lang="en-IN" sz="2400" b="1" dirty="0">
                        <a:effectLst/>
                      </a:endParaRPr>
                    </a:p>
                    <a:p>
                      <a:pPr marL="71120" marR="17780" algn="ctr">
                        <a:spcAft>
                          <a:spcPts val="0"/>
                        </a:spcAft>
                      </a:pPr>
                      <a:r>
                        <a:rPr lang="en-US" sz="1600" b="1" dirty="0">
                          <a:effectLst/>
                        </a:rPr>
                        <a:t>Tests</a:t>
                      </a:r>
                      <a:endParaRPr lang="en-IN" sz="2400" b="1"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1583346734"/>
                  </a:ext>
                </a:extLst>
              </a:tr>
              <a:tr h="996555">
                <a:tc>
                  <a:txBody>
                    <a:bodyPr/>
                    <a:lstStyle/>
                    <a:p>
                      <a:pPr marL="180975" marR="126365" indent="-12700" algn="ctr">
                        <a:lnSpc>
                          <a:spcPct val="98000"/>
                        </a:lnSpc>
                        <a:spcBef>
                          <a:spcPts val="415"/>
                        </a:spcBef>
                        <a:spcAft>
                          <a:spcPts val="0"/>
                        </a:spcAft>
                      </a:pPr>
                      <a:r>
                        <a:rPr lang="en-US" sz="1400" dirty="0" smtClean="0">
                          <a:effectLst/>
                        </a:rPr>
                        <a:t>Advance Web Designing</a:t>
                      </a:r>
                      <a:endParaRPr lang="en-IN" sz="2000"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5"/>
                        </a:spcBef>
                        <a:spcAft>
                          <a:spcPts val="0"/>
                        </a:spcAft>
                      </a:pPr>
                      <a:r>
                        <a:rPr lang="en-US" sz="1100" dirty="0">
                          <a:effectLst/>
                        </a:rPr>
                        <a:t> </a:t>
                      </a:r>
                      <a:endParaRPr lang="en-IN" sz="2000" dirty="0">
                        <a:effectLst/>
                      </a:endParaRPr>
                    </a:p>
                    <a:p>
                      <a:pPr marL="3810" algn="ctr">
                        <a:spcAft>
                          <a:spcPts val="0"/>
                        </a:spcAft>
                      </a:pPr>
                      <a:r>
                        <a:rPr lang="en-US" sz="1400" dirty="0" smtClean="0">
                          <a:effectLst/>
                        </a:rPr>
                        <a:t>-</a:t>
                      </a:r>
                      <a:endParaRPr lang="en-IN" sz="2000"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5"/>
                        </a:spcBef>
                        <a:spcAft>
                          <a:spcPts val="0"/>
                        </a:spcAft>
                      </a:pPr>
                      <a:r>
                        <a:rPr lang="en-US" sz="1100" dirty="0">
                          <a:effectLst/>
                        </a:rPr>
                        <a:t> </a:t>
                      </a:r>
                      <a:endParaRPr lang="en-IN" sz="2000" dirty="0">
                        <a:effectLst/>
                      </a:endParaRPr>
                    </a:p>
                    <a:p>
                      <a:pPr marL="245745" algn="ctr">
                        <a:spcAft>
                          <a:spcPts val="0"/>
                        </a:spcAft>
                      </a:pPr>
                      <a:r>
                        <a:rPr lang="en-US" sz="1400" dirty="0">
                          <a:effectLst/>
                        </a:rPr>
                        <a:t>3</a:t>
                      </a:r>
                      <a:endParaRPr lang="en-IN" sz="2000"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5"/>
                        </a:spcBef>
                        <a:spcAft>
                          <a:spcPts val="0"/>
                        </a:spcAft>
                      </a:pPr>
                      <a:r>
                        <a:rPr lang="en-US" sz="1100" dirty="0">
                          <a:effectLst/>
                        </a:rPr>
                        <a:t> </a:t>
                      </a:r>
                      <a:endParaRPr lang="en-IN" sz="2000" dirty="0">
                        <a:effectLst/>
                      </a:endParaRPr>
                    </a:p>
                    <a:p>
                      <a:pPr marL="165735" algn="ctr">
                        <a:spcAft>
                          <a:spcPts val="0"/>
                        </a:spcAft>
                      </a:pPr>
                      <a:r>
                        <a:rPr lang="en-US" sz="1400" dirty="0" smtClean="0">
                          <a:effectLst/>
                        </a:rPr>
                        <a:t>3</a:t>
                      </a:r>
                      <a:endParaRPr lang="en-IN" sz="2000"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5"/>
                        </a:spcBef>
                        <a:spcAft>
                          <a:spcPts val="0"/>
                        </a:spcAft>
                      </a:pPr>
                      <a:r>
                        <a:rPr lang="en-US" sz="1100" dirty="0">
                          <a:effectLst/>
                        </a:rPr>
                        <a:t> </a:t>
                      </a:r>
                      <a:endParaRPr lang="en-IN" sz="2000" dirty="0">
                        <a:effectLst/>
                      </a:endParaRPr>
                    </a:p>
                    <a:p>
                      <a:pPr marL="6350" algn="ctr">
                        <a:spcAft>
                          <a:spcPts val="0"/>
                        </a:spcAft>
                      </a:pPr>
                      <a:r>
                        <a:rPr lang="en-US" sz="1400" dirty="0" smtClean="0">
                          <a:effectLst/>
                        </a:rPr>
                        <a:t>3</a:t>
                      </a:r>
                      <a:endParaRPr lang="en-IN" sz="2000"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5"/>
                        </a:spcBef>
                        <a:spcAft>
                          <a:spcPts val="0"/>
                        </a:spcAft>
                      </a:pPr>
                      <a:r>
                        <a:rPr lang="en-US" sz="1100" dirty="0">
                          <a:effectLst/>
                        </a:rPr>
                        <a:t> </a:t>
                      </a:r>
                      <a:endParaRPr lang="en-IN" sz="2000" dirty="0">
                        <a:effectLst/>
                      </a:endParaRPr>
                    </a:p>
                    <a:p>
                      <a:pPr marL="45085" marR="36195" algn="ctr">
                        <a:spcAft>
                          <a:spcPts val="0"/>
                        </a:spcAft>
                      </a:pPr>
                      <a:r>
                        <a:rPr lang="en-US" sz="1400" dirty="0" smtClean="0">
                          <a:effectLst/>
                        </a:rPr>
                        <a:t>-</a:t>
                      </a:r>
                      <a:endParaRPr lang="en-IN" sz="2000"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5"/>
                        </a:spcBef>
                        <a:spcAft>
                          <a:spcPts val="0"/>
                        </a:spcAft>
                      </a:pPr>
                      <a:r>
                        <a:rPr lang="en-US" sz="1100" dirty="0">
                          <a:effectLst/>
                        </a:rPr>
                        <a:t> </a:t>
                      </a:r>
                      <a:endParaRPr lang="en-IN" sz="2000" dirty="0">
                        <a:effectLst/>
                      </a:endParaRPr>
                    </a:p>
                    <a:p>
                      <a:pPr marL="176530" marR="167005" algn="ctr">
                        <a:spcAft>
                          <a:spcPts val="0"/>
                        </a:spcAft>
                      </a:pPr>
                      <a:r>
                        <a:rPr lang="en-US" sz="1400" dirty="0" smtClean="0">
                          <a:effectLst/>
                        </a:rPr>
                        <a:t>-</a:t>
                      </a:r>
                      <a:endParaRPr lang="en-IN" sz="2000"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5"/>
                        </a:spcBef>
                        <a:spcAft>
                          <a:spcPts val="0"/>
                        </a:spcAft>
                      </a:pPr>
                      <a:r>
                        <a:rPr lang="en-US" sz="1100" dirty="0">
                          <a:effectLst/>
                        </a:rPr>
                        <a:t> </a:t>
                      </a:r>
                      <a:endParaRPr lang="en-IN" sz="2000" dirty="0">
                        <a:effectLst/>
                      </a:endParaRPr>
                    </a:p>
                    <a:p>
                      <a:pPr marL="196215" marR="182880" algn="ctr">
                        <a:spcAft>
                          <a:spcPts val="0"/>
                        </a:spcAft>
                      </a:pPr>
                      <a:r>
                        <a:rPr lang="en-US" sz="1400" dirty="0" smtClean="0">
                          <a:effectLst/>
                        </a:rPr>
                        <a:t>-</a:t>
                      </a:r>
                      <a:endParaRPr lang="en-IN" sz="2000"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5"/>
                        </a:spcBef>
                        <a:spcAft>
                          <a:spcPts val="0"/>
                        </a:spcAft>
                      </a:pPr>
                      <a:r>
                        <a:rPr lang="en-US" sz="1100" dirty="0">
                          <a:effectLst/>
                        </a:rPr>
                        <a:t> </a:t>
                      </a:r>
                      <a:endParaRPr lang="en-IN" sz="2000" dirty="0">
                        <a:effectLst/>
                      </a:endParaRPr>
                    </a:p>
                    <a:p>
                      <a:pPr marL="122555" marR="112395" algn="ctr">
                        <a:spcAft>
                          <a:spcPts val="0"/>
                        </a:spcAft>
                      </a:pPr>
                      <a:r>
                        <a:rPr lang="en-US" sz="1400" dirty="0">
                          <a:effectLst/>
                        </a:rPr>
                        <a:t>15</a:t>
                      </a:r>
                      <a:endParaRPr lang="en-IN" sz="2000"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5"/>
                        </a:spcBef>
                        <a:spcAft>
                          <a:spcPts val="0"/>
                        </a:spcAft>
                      </a:pPr>
                      <a:r>
                        <a:rPr lang="en-US" sz="1100" dirty="0">
                          <a:effectLst/>
                        </a:rPr>
                        <a:t> </a:t>
                      </a:r>
                      <a:endParaRPr lang="en-IN" sz="2000" dirty="0">
                        <a:effectLst/>
                      </a:endParaRPr>
                    </a:p>
                    <a:p>
                      <a:pPr marL="29210" marR="17780" algn="ctr">
                        <a:spcAft>
                          <a:spcPts val="0"/>
                        </a:spcAft>
                      </a:pPr>
                      <a:r>
                        <a:rPr lang="en-US" sz="1400" dirty="0">
                          <a:effectLst/>
                        </a:rPr>
                        <a:t>15</a:t>
                      </a:r>
                      <a:endParaRPr lang="en-IN" sz="2000"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5"/>
                        </a:spcBef>
                        <a:spcAft>
                          <a:spcPts val="0"/>
                        </a:spcAft>
                      </a:pPr>
                      <a:r>
                        <a:rPr lang="en-US" sz="1100" dirty="0">
                          <a:effectLst/>
                        </a:rPr>
                        <a:t> </a:t>
                      </a:r>
                      <a:endParaRPr lang="en-IN" sz="2000" dirty="0">
                        <a:effectLst/>
                      </a:endParaRPr>
                    </a:p>
                    <a:p>
                      <a:pPr marL="212725" algn="ctr">
                        <a:spcAft>
                          <a:spcPts val="0"/>
                        </a:spcAft>
                      </a:pPr>
                      <a:r>
                        <a:rPr lang="en-US" sz="1400" dirty="0">
                          <a:effectLst/>
                        </a:rPr>
                        <a:t>70</a:t>
                      </a:r>
                      <a:endParaRPr lang="en-IN" sz="2000"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5"/>
                        </a:spcBef>
                        <a:spcAft>
                          <a:spcPts val="0"/>
                        </a:spcAft>
                      </a:pPr>
                      <a:r>
                        <a:rPr lang="en-US" sz="1100" dirty="0">
                          <a:effectLst/>
                        </a:rPr>
                        <a:t> </a:t>
                      </a:r>
                      <a:endParaRPr lang="en-IN" sz="2000" dirty="0">
                        <a:effectLst/>
                      </a:endParaRPr>
                    </a:p>
                    <a:p>
                      <a:pPr marL="109855" algn="ctr">
                        <a:spcAft>
                          <a:spcPts val="0"/>
                        </a:spcAft>
                      </a:pPr>
                      <a:r>
                        <a:rPr lang="en-US" sz="1400" dirty="0" smtClean="0">
                          <a:effectLst/>
                        </a:rPr>
                        <a:t>100</a:t>
                      </a:r>
                      <a:endParaRPr lang="en-IN" sz="2000" dirty="0">
                        <a:effectLst/>
                        <a:latin typeface="Times New Roman" panose="02020603050405020304" pitchFamily="18" charset="0"/>
                        <a:ea typeface="Times New Roman" panose="02020603050405020304" pitchFamily="18" charset="0"/>
                        <a:cs typeface="Mang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180531"/>
                  </a:ext>
                </a:extLst>
              </a:tr>
            </a:tbl>
          </a:graphicData>
        </a:graphic>
      </p:graphicFrame>
    </p:spTree>
    <p:extLst>
      <p:ext uri="{BB962C8B-B14F-4D97-AF65-F5344CB8AC3E}">
        <p14:creationId xmlns:p14="http://schemas.microsoft.com/office/powerpoint/2010/main" val="34741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467600" cy="1143000"/>
          </a:xfrm>
        </p:spPr>
        <p:txBody>
          <a:bodyPr/>
          <a:lstStyle/>
          <a:p>
            <a:r>
              <a:rPr lang="en-US" b="1" dirty="0" smtClean="0">
                <a:solidFill>
                  <a:srgbClr val="7030A0"/>
                </a:solidFill>
              </a:rPr>
              <a:t>What is advance web designing ?</a:t>
            </a:r>
            <a:endParaRPr lang="en-IN" b="1" dirty="0">
              <a:solidFill>
                <a:srgbClr val="7030A0"/>
              </a:solidFill>
            </a:endParaRPr>
          </a:p>
        </p:txBody>
      </p:sp>
      <p:sp>
        <p:nvSpPr>
          <p:cNvPr id="3" name="Content Placeholder 2"/>
          <p:cNvSpPr>
            <a:spLocks noGrp="1"/>
          </p:cNvSpPr>
          <p:nvPr>
            <p:ph sz="quarter" idx="1"/>
          </p:nvPr>
        </p:nvSpPr>
        <p:spPr/>
        <p:txBody>
          <a:bodyPr/>
          <a:lstStyle/>
          <a:p>
            <a:r>
              <a:rPr lang="en-US" dirty="0"/>
              <a:t>This course will help you take your web design skills to the next level. </a:t>
            </a:r>
            <a:endParaRPr lang="en-US" dirty="0" smtClean="0"/>
          </a:p>
          <a:p>
            <a:r>
              <a:rPr lang="en-US" dirty="0" smtClean="0"/>
              <a:t>You’ll </a:t>
            </a:r>
            <a:r>
              <a:rPr lang="en-US" dirty="0"/>
              <a:t>learn how to use the updated features in HTML5 and CSS3 to create flexible and modern websites, style them with new CSS techniques, optimize them for mobile platforms, use external libraries, and create animated elements. </a:t>
            </a:r>
            <a:endParaRPr lang="en-IN" dirty="0"/>
          </a:p>
        </p:txBody>
      </p:sp>
    </p:spTree>
    <p:extLst>
      <p:ext uri="{BB962C8B-B14F-4D97-AF65-F5344CB8AC3E}">
        <p14:creationId xmlns:p14="http://schemas.microsoft.com/office/powerpoint/2010/main" val="4177712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0F7DF0-4BD2-79BA-6E9E-1FC79CDE9E5C}"/>
              </a:ext>
            </a:extLst>
          </p:cNvPr>
          <p:cNvSpPr>
            <a:spLocks noGrp="1"/>
          </p:cNvSpPr>
          <p:nvPr>
            <p:ph sz="quarter" idx="1"/>
          </p:nvPr>
        </p:nvSpPr>
        <p:spPr>
          <a:xfrm>
            <a:off x="395536" y="404664"/>
            <a:ext cx="7776864" cy="6264696"/>
          </a:xfrm>
        </p:spPr>
        <p:txBody>
          <a:bodyPr>
            <a:normAutofit fontScale="92500" lnSpcReduction="10000"/>
          </a:bodyPr>
          <a:lstStyle/>
          <a:p>
            <a:pPr marL="0" indent="0">
              <a:buNone/>
            </a:pPr>
            <a:r>
              <a:rPr lang="en-AU" dirty="0"/>
              <a:t>A group of interlinked and well structure webpages that are exist on same domain is called </a:t>
            </a:r>
            <a:r>
              <a:rPr lang="en-AU" b="1" dirty="0">
                <a:solidFill>
                  <a:srgbClr val="FF0066"/>
                </a:solidFill>
              </a:rPr>
              <a:t>website.</a:t>
            </a:r>
          </a:p>
          <a:p>
            <a:pPr marL="0" indent="0">
              <a:buNone/>
            </a:pPr>
            <a:endParaRPr lang="en-AU" b="1" dirty="0">
              <a:solidFill>
                <a:srgbClr val="FF0066"/>
              </a:solidFill>
            </a:endParaRPr>
          </a:p>
          <a:p>
            <a:pPr marL="0" indent="0">
              <a:buNone/>
            </a:pPr>
            <a:r>
              <a:rPr lang="en-AU" b="1" dirty="0">
                <a:solidFill>
                  <a:srgbClr val="FF0066"/>
                </a:solidFill>
              </a:rPr>
              <a:t>A webpage </a:t>
            </a:r>
            <a:r>
              <a:rPr lang="en-AU" dirty="0"/>
              <a:t>is a collection of </a:t>
            </a:r>
            <a:r>
              <a:rPr lang="en-AU" b="1" dirty="0"/>
              <a:t>Text, Images, Audio, Video, Animation, Link</a:t>
            </a:r>
            <a:r>
              <a:rPr lang="en-AU" dirty="0"/>
              <a:t> etc.</a:t>
            </a:r>
          </a:p>
          <a:p>
            <a:pPr marL="0" indent="0">
              <a:buNone/>
            </a:pPr>
            <a:endParaRPr lang="en-AU" dirty="0"/>
          </a:p>
          <a:p>
            <a:pPr marL="0" indent="0">
              <a:buNone/>
            </a:pPr>
            <a:r>
              <a:rPr lang="en-AU" b="1" dirty="0">
                <a:solidFill>
                  <a:srgbClr val="FF0066"/>
                </a:solidFill>
              </a:rPr>
              <a:t>Web design </a:t>
            </a:r>
            <a:r>
              <a:rPr lang="en-AU" dirty="0"/>
              <a:t>refers to the design of websites that are displayed on internet.</a:t>
            </a:r>
          </a:p>
          <a:p>
            <a:pPr marL="0" indent="0">
              <a:buNone/>
            </a:pPr>
            <a:endParaRPr lang="en-AU" dirty="0"/>
          </a:p>
          <a:p>
            <a:pPr marL="0" indent="0">
              <a:buNone/>
            </a:pPr>
            <a:r>
              <a:rPr lang="en-AU" b="1" dirty="0">
                <a:solidFill>
                  <a:srgbClr val="FF0066"/>
                </a:solidFill>
              </a:rPr>
              <a:t>Web</a:t>
            </a:r>
            <a:r>
              <a:rPr lang="en-AU" dirty="0"/>
              <a:t> is a </a:t>
            </a:r>
            <a:r>
              <a:rPr lang="en-AU" b="1" u="sng" dirty="0">
                <a:solidFill>
                  <a:srgbClr val="0000FF"/>
                </a:solidFill>
              </a:rPr>
              <a:t>huge collection of pages </a:t>
            </a:r>
            <a:r>
              <a:rPr lang="en-AU" dirty="0"/>
              <a:t>of information linked to each other around one globe.</a:t>
            </a:r>
          </a:p>
          <a:p>
            <a:pPr marL="0" indent="0">
              <a:buNone/>
            </a:pPr>
            <a:endParaRPr lang="en-AU" dirty="0"/>
          </a:p>
          <a:p>
            <a:pPr marL="0" indent="0">
              <a:buNone/>
            </a:pPr>
            <a:r>
              <a:rPr lang="en-AU" dirty="0"/>
              <a:t>It can be designed with </a:t>
            </a:r>
            <a:r>
              <a:rPr lang="en-AU" b="1" dirty="0">
                <a:solidFill>
                  <a:srgbClr val="0000FF"/>
                </a:solidFill>
              </a:rPr>
              <a:t>HTML, CSS &amp; Java Script.</a:t>
            </a:r>
          </a:p>
          <a:p>
            <a:pPr marL="0" indent="0">
              <a:buNone/>
            </a:pPr>
            <a:endParaRPr lang="en-AU" b="1" dirty="0">
              <a:solidFill>
                <a:srgbClr val="0000FF"/>
              </a:solidFill>
            </a:endParaRPr>
          </a:p>
          <a:p>
            <a:pPr marL="0" indent="0">
              <a:buNone/>
            </a:pPr>
            <a:r>
              <a:rPr lang="en-AU" b="1" dirty="0">
                <a:solidFill>
                  <a:srgbClr val="0000FF"/>
                </a:solidFill>
              </a:rPr>
              <a:t>HTML 	 : </a:t>
            </a:r>
            <a:r>
              <a:rPr lang="en-AU" b="1" dirty="0">
                <a:solidFill>
                  <a:srgbClr val="FF0066"/>
                </a:solidFill>
              </a:rPr>
              <a:t>Structure / Layout</a:t>
            </a:r>
          </a:p>
          <a:p>
            <a:pPr marL="0" indent="0">
              <a:buNone/>
            </a:pPr>
            <a:r>
              <a:rPr lang="en-AU" b="1" dirty="0">
                <a:solidFill>
                  <a:srgbClr val="0000FF"/>
                </a:solidFill>
              </a:rPr>
              <a:t>CSS 		 : </a:t>
            </a:r>
            <a:r>
              <a:rPr lang="en-AU" b="1" dirty="0">
                <a:solidFill>
                  <a:srgbClr val="FF0066"/>
                </a:solidFill>
              </a:rPr>
              <a:t>Style / Decoration</a:t>
            </a:r>
          </a:p>
          <a:p>
            <a:pPr marL="0" indent="0">
              <a:buNone/>
            </a:pPr>
            <a:r>
              <a:rPr lang="en-AU" b="1" dirty="0">
                <a:solidFill>
                  <a:srgbClr val="0000FF"/>
                </a:solidFill>
              </a:rPr>
              <a:t>Java Script   : </a:t>
            </a:r>
            <a:r>
              <a:rPr lang="en-AU" b="1" dirty="0">
                <a:solidFill>
                  <a:srgbClr val="FF0066"/>
                </a:solidFill>
              </a:rPr>
              <a:t>Logic</a:t>
            </a:r>
          </a:p>
        </p:txBody>
      </p:sp>
    </p:spTree>
    <p:extLst>
      <p:ext uri="{BB962C8B-B14F-4D97-AF65-F5344CB8AC3E}">
        <p14:creationId xmlns:p14="http://schemas.microsoft.com/office/powerpoint/2010/main" val="2838901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animEffect transition="in" filter="fade">
                                      <p:cBhvr>
                                        <p:cTn id="37" dur="500"/>
                                        <p:tgtEl>
                                          <p:spTgt spid="3">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2" end="12"/>
                                            </p:txEl>
                                          </p:spTgt>
                                        </p:tgtEl>
                                        <p:attrNameLst>
                                          <p:attrName>style.visibility</p:attrName>
                                        </p:attrNameLst>
                                      </p:cBhvr>
                                      <p:to>
                                        <p:strVal val="visible"/>
                                      </p:to>
                                    </p:set>
                                    <p:animEffect transition="in" filter="fade">
                                      <p:cBhvr>
                                        <p:cTn id="4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334" y="116632"/>
            <a:ext cx="7467600" cy="659644"/>
          </a:xfrm>
        </p:spPr>
        <p:txBody>
          <a:bodyPr>
            <a:normAutofit/>
          </a:bodyPr>
          <a:lstStyle/>
          <a:p>
            <a:r>
              <a:rPr lang="en-AU" b="1" dirty="0" smtClean="0">
                <a:solidFill>
                  <a:srgbClr val="7030A0"/>
                </a:solidFill>
              </a:rPr>
              <a:t>WHY </a:t>
            </a:r>
            <a:r>
              <a:rPr lang="en-AU" b="1" dirty="0">
                <a:solidFill>
                  <a:srgbClr val="7030A0"/>
                </a:solidFill>
              </a:rPr>
              <a:t>IS </a:t>
            </a:r>
            <a:r>
              <a:rPr lang="en-AU" b="1" dirty="0" smtClean="0">
                <a:solidFill>
                  <a:srgbClr val="7030A0"/>
                </a:solidFill>
              </a:rPr>
              <a:t>CSS </a:t>
            </a:r>
            <a:r>
              <a:rPr lang="en-AU" b="1" dirty="0">
                <a:solidFill>
                  <a:srgbClr val="7030A0"/>
                </a:solidFill>
              </a:rPr>
              <a:t>?</a:t>
            </a:r>
          </a:p>
        </p:txBody>
      </p:sp>
      <p:sp>
        <p:nvSpPr>
          <p:cNvPr id="16" name="TextBox 15"/>
          <p:cNvSpPr txBox="1"/>
          <p:nvPr/>
        </p:nvSpPr>
        <p:spPr>
          <a:xfrm>
            <a:off x="6463018" y="3643314"/>
            <a:ext cx="2357454" cy="369332"/>
          </a:xfrm>
          <a:prstGeom prst="rect">
            <a:avLst/>
          </a:prstGeom>
          <a:noFill/>
        </p:spPr>
        <p:txBody>
          <a:bodyPr wrap="square" rtlCol="0">
            <a:spAutoFit/>
          </a:bodyPr>
          <a:lstStyle/>
          <a:p>
            <a:endParaRPr lang="en-AU" dirty="0">
              <a:solidFill>
                <a:srgbClr val="0000FF"/>
              </a:solidFill>
            </a:endParaRPr>
          </a:p>
        </p:txBody>
      </p:sp>
      <p:sp>
        <p:nvSpPr>
          <p:cNvPr id="17" name="TextBox 16"/>
          <p:cNvSpPr txBox="1"/>
          <p:nvPr/>
        </p:nvSpPr>
        <p:spPr>
          <a:xfrm>
            <a:off x="359334" y="967791"/>
            <a:ext cx="7858180" cy="4524315"/>
          </a:xfrm>
          <a:prstGeom prst="rect">
            <a:avLst/>
          </a:prstGeom>
          <a:noFill/>
        </p:spPr>
        <p:txBody>
          <a:bodyPr wrap="square" rtlCol="0">
            <a:spAutoFit/>
          </a:bodyPr>
          <a:lstStyle/>
          <a:p>
            <a:pPr algn="just" fontAlgn="base"/>
            <a:r>
              <a:rPr lang="en-US" dirty="0" smtClean="0"/>
              <a:t>Prior </a:t>
            </a:r>
            <a:r>
              <a:rPr lang="en-US" dirty="0"/>
              <a:t>to CSS, nearly all of the presentational attributes of HTML documents were contained within the HTML markup (specifically inside the HTML tags); all the font colors, background styles, element alignments, borders and sizes had to be explicitly described within the HTML</a:t>
            </a:r>
            <a:r>
              <a:rPr lang="en-US" dirty="0" smtClean="0"/>
              <a:t>.</a:t>
            </a:r>
          </a:p>
          <a:p>
            <a:pPr algn="just" fontAlgn="base"/>
            <a:endParaRPr lang="en-US" dirty="0"/>
          </a:p>
          <a:p>
            <a:pPr algn="just" fontAlgn="base"/>
            <a:r>
              <a:rPr lang="en-US" dirty="0"/>
              <a:t>As a result, development of the large websites became a long and expensive process, since the style information were repeatedly added to every single page of the website.</a:t>
            </a:r>
          </a:p>
          <a:p>
            <a:pPr algn="just"/>
            <a:endParaRPr lang="en-US" dirty="0"/>
          </a:p>
          <a:p>
            <a:pPr algn="just" fontAlgn="base"/>
            <a:r>
              <a:rPr lang="en-US" dirty="0"/>
              <a:t>To solve this problem CSS was introduced in 1996 by the World Wide Web Consortium (W3C), which also maintains its standard. CSS was designed to enable the separation of presentation and content. Now web designers can move the formatting information of the web pages to a separate style sheet which results in considerably simpler HTML markup, and better maintainability</a:t>
            </a:r>
            <a:r>
              <a:rPr lang="en-US" dirty="0" smtClean="0"/>
              <a:t>.</a:t>
            </a:r>
            <a:endParaRPr lang="en-US" dirty="0"/>
          </a:p>
        </p:txBody>
      </p:sp>
    </p:spTree>
    <p:extLst>
      <p:ext uri="{BB962C8B-B14F-4D97-AF65-F5344CB8AC3E}">
        <p14:creationId xmlns:p14="http://schemas.microsoft.com/office/powerpoint/2010/main" val="422506022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0-#ppt_w/2"/>
                                          </p:val>
                                        </p:tav>
                                        <p:tav tm="100000">
                                          <p:val>
                                            <p:strVal val="#ppt_x"/>
                                          </p:val>
                                        </p:tav>
                                      </p:tavLst>
                                    </p:anim>
                                    <p:anim calcmode="lin" valueType="num">
                                      <p:cBhvr additive="base">
                                        <p:cTn id="14"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nodePh="1">
                                  <p:stCondLst>
                                    <p:cond delay="0"/>
                                  </p:stCondLst>
                                  <p:endCondLst>
                                    <p:cond evt="begin" delay="0">
                                      <p:tn val="17"/>
                                    </p:cond>
                                  </p:end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1+#ppt_w/2"/>
                                          </p:val>
                                        </p:tav>
                                        <p:tav tm="100000">
                                          <p:val>
                                            <p:strVal val="#ppt_x"/>
                                          </p:val>
                                        </p:tav>
                                      </p:tavLst>
                                    </p:anim>
                                    <p:anim calcmode="lin" valueType="num">
                                      <p:cBhvr additive="base">
                                        <p:cTn id="20"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6"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859" y="239630"/>
            <a:ext cx="7467600" cy="752670"/>
          </a:xfrm>
        </p:spPr>
        <p:txBody>
          <a:bodyPr>
            <a:normAutofit/>
          </a:bodyPr>
          <a:lstStyle/>
          <a:p>
            <a:r>
              <a:rPr lang="en-AU" b="1" dirty="0">
                <a:solidFill>
                  <a:srgbClr val="7030A0"/>
                </a:solidFill>
              </a:rPr>
              <a:t>WHAT IS </a:t>
            </a:r>
            <a:r>
              <a:rPr lang="en-AU" b="1" dirty="0" smtClean="0">
                <a:solidFill>
                  <a:srgbClr val="7030A0"/>
                </a:solidFill>
              </a:rPr>
              <a:t>CSS </a:t>
            </a:r>
            <a:r>
              <a:rPr lang="en-AU" b="1" dirty="0">
                <a:solidFill>
                  <a:srgbClr val="7030A0"/>
                </a:solidFill>
              </a:rPr>
              <a:t>?</a:t>
            </a:r>
          </a:p>
        </p:txBody>
      </p:sp>
      <p:sp>
        <p:nvSpPr>
          <p:cNvPr id="3" name="Content Placeholder 2"/>
          <p:cNvSpPr>
            <a:spLocks noGrp="1"/>
          </p:cNvSpPr>
          <p:nvPr>
            <p:ph sz="quarter" idx="1"/>
          </p:nvPr>
        </p:nvSpPr>
        <p:spPr>
          <a:xfrm>
            <a:off x="320297" y="1124744"/>
            <a:ext cx="8352928" cy="4873752"/>
          </a:xfrm>
        </p:spPr>
        <p:txBody>
          <a:bodyPr/>
          <a:lstStyle/>
          <a:p>
            <a:pPr>
              <a:buNone/>
            </a:pPr>
            <a:r>
              <a:rPr lang="en-AU" b="1" dirty="0" smtClean="0"/>
              <a:t>CSS </a:t>
            </a:r>
            <a:r>
              <a:rPr lang="en-AU" b="1" dirty="0"/>
              <a:t>stands for </a:t>
            </a:r>
            <a:r>
              <a:rPr lang="en-AU" b="1" dirty="0">
                <a:solidFill>
                  <a:srgbClr val="FF0000"/>
                </a:solidFill>
              </a:rPr>
              <a:t> </a:t>
            </a:r>
            <a:r>
              <a:rPr lang="en-AU" b="1" dirty="0" smtClean="0">
                <a:solidFill>
                  <a:srgbClr val="FF0000"/>
                </a:solidFill>
              </a:rPr>
              <a:t>Cascading Style Sheet</a:t>
            </a:r>
          </a:p>
          <a:p>
            <a:pPr>
              <a:buNone/>
            </a:pPr>
            <a:endParaRPr lang="en-AU" b="1" dirty="0"/>
          </a:p>
          <a:p>
            <a:pPr>
              <a:buNone/>
            </a:pPr>
            <a:endParaRPr lang="en-AU" dirty="0"/>
          </a:p>
        </p:txBody>
      </p:sp>
      <p:sp>
        <p:nvSpPr>
          <p:cNvPr id="16" name="TextBox 15"/>
          <p:cNvSpPr txBox="1"/>
          <p:nvPr/>
        </p:nvSpPr>
        <p:spPr>
          <a:xfrm>
            <a:off x="6463018" y="3643314"/>
            <a:ext cx="2357454" cy="369332"/>
          </a:xfrm>
          <a:prstGeom prst="rect">
            <a:avLst/>
          </a:prstGeom>
          <a:noFill/>
        </p:spPr>
        <p:txBody>
          <a:bodyPr wrap="square" rtlCol="0">
            <a:spAutoFit/>
          </a:bodyPr>
          <a:lstStyle/>
          <a:p>
            <a:endParaRPr lang="en-AU" dirty="0">
              <a:solidFill>
                <a:srgbClr val="0000FF"/>
              </a:solidFill>
            </a:endParaRPr>
          </a:p>
        </p:txBody>
      </p:sp>
      <p:sp>
        <p:nvSpPr>
          <p:cNvPr id="17" name="TextBox 16"/>
          <p:cNvSpPr txBox="1"/>
          <p:nvPr/>
        </p:nvSpPr>
        <p:spPr>
          <a:xfrm>
            <a:off x="327859" y="1750488"/>
            <a:ext cx="7858180" cy="4524315"/>
          </a:xfrm>
          <a:prstGeom prst="rect">
            <a:avLst/>
          </a:prstGeom>
          <a:noFill/>
        </p:spPr>
        <p:txBody>
          <a:bodyPr wrap="square" rtlCol="0">
            <a:spAutoFit/>
          </a:bodyPr>
          <a:lstStyle/>
          <a:p>
            <a:pPr algn="just"/>
            <a:r>
              <a:rPr lang="en-US" dirty="0"/>
              <a:t>The word </a:t>
            </a:r>
            <a:r>
              <a:rPr lang="en-US" b="1" dirty="0"/>
              <a:t>cascading</a:t>
            </a:r>
            <a:r>
              <a:rPr lang="en-US" dirty="0"/>
              <a:t> means that a style applied to a parent element will also apply to all children elements within the parent. So, if you set the color of the body text to "blue", all headings, paragraphs, and other text elements within the body will also get the same color (unless you specify something else)!</a:t>
            </a:r>
            <a:endParaRPr lang="en-AU" b="1" dirty="0">
              <a:solidFill>
                <a:srgbClr val="FF0000"/>
              </a:solidFill>
            </a:endParaRPr>
          </a:p>
          <a:p>
            <a:pPr algn="just"/>
            <a:endParaRPr lang="en-US" dirty="0" smtClean="0"/>
          </a:p>
          <a:p>
            <a:pPr algn="just"/>
            <a:r>
              <a:rPr lang="en-US" dirty="0" smtClean="0"/>
              <a:t>CSS </a:t>
            </a:r>
            <a:r>
              <a:rPr lang="en-US" dirty="0"/>
              <a:t>is a standard style sheet language used for describing </a:t>
            </a:r>
            <a:r>
              <a:rPr lang="en-US" dirty="0" smtClean="0"/>
              <a:t>the presentation </a:t>
            </a:r>
            <a:r>
              <a:rPr lang="en-US" dirty="0"/>
              <a:t>(i.e. the layout and formatting) of the web pages</a:t>
            </a:r>
            <a:r>
              <a:rPr lang="en-US" dirty="0" smtClean="0"/>
              <a:t>.</a:t>
            </a:r>
          </a:p>
          <a:p>
            <a:pPr algn="just"/>
            <a:endParaRPr lang="en-US" dirty="0"/>
          </a:p>
          <a:p>
            <a:pPr algn="just"/>
            <a:r>
              <a:rPr lang="en-US" dirty="0"/>
              <a:t>CSS3 is the latest version of the CSS specification. CSS3 adds several new styling features and improvements to enhance the web presentation capabilities.</a:t>
            </a:r>
          </a:p>
          <a:p>
            <a:pPr algn="just"/>
            <a:endParaRPr lang="en-US" dirty="0" smtClean="0"/>
          </a:p>
          <a:p>
            <a:pPr algn="just"/>
            <a:endParaRPr lang="en-US" dirty="0"/>
          </a:p>
          <a:p>
            <a:endParaRPr lang="en-US" dirty="0" smtClean="0"/>
          </a:p>
          <a:p>
            <a:endParaRPr lang="en-US"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0-#ppt_w/2"/>
                                          </p:val>
                                        </p:tav>
                                        <p:tav tm="100000">
                                          <p:val>
                                            <p:strVal val="#ppt_x"/>
                                          </p:val>
                                        </p:tav>
                                      </p:tavLst>
                                    </p:anim>
                                    <p:anim calcmode="lin" valueType="num">
                                      <p:cBhvr additive="base">
                                        <p:cTn id="20"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nodePh="1">
                                  <p:stCondLst>
                                    <p:cond delay="0"/>
                                  </p:stCondLst>
                                  <p:endCondLst>
                                    <p:cond evt="begin" delay="0">
                                      <p:tn val="23"/>
                                    </p:cond>
                                  </p:end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1+#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027" y="332656"/>
            <a:ext cx="7467600" cy="652934"/>
          </a:xfrm>
        </p:spPr>
        <p:txBody>
          <a:bodyPr>
            <a:noAutofit/>
          </a:bodyPr>
          <a:lstStyle/>
          <a:p>
            <a:r>
              <a:rPr lang="en-AU" sz="4000" b="1" dirty="0" smtClean="0">
                <a:solidFill>
                  <a:srgbClr val="7030A0"/>
                </a:solidFill>
              </a:rPr>
              <a:t>Types of css</a:t>
            </a:r>
            <a:endParaRPr lang="en-AU" sz="4000" b="1" dirty="0">
              <a:solidFill>
                <a:srgbClr val="7030A0"/>
              </a:solidFill>
            </a:endParaRPr>
          </a:p>
        </p:txBody>
      </p:sp>
      <p:sp>
        <p:nvSpPr>
          <p:cNvPr id="3" name="Content Placeholder 2"/>
          <p:cNvSpPr>
            <a:spLocks noGrp="1"/>
          </p:cNvSpPr>
          <p:nvPr>
            <p:ph sz="quarter" idx="1"/>
          </p:nvPr>
        </p:nvSpPr>
        <p:spPr>
          <a:xfrm>
            <a:off x="463027" y="1412776"/>
            <a:ext cx="7709373" cy="4873752"/>
          </a:xfrm>
        </p:spPr>
        <p:txBody>
          <a:bodyPr>
            <a:normAutofit/>
          </a:bodyPr>
          <a:lstStyle/>
          <a:p>
            <a:pPr>
              <a:buNone/>
            </a:pPr>
            <a:r>
              <a:rPr lang="en-US" sz="3200" b="1" dirty="0"/>
              <a:t>CSS can be added to </a:t>
            </a:r>
            <a:r>
              <a:rPr lang="en-US" sz="3200" b="1" dirty="0" smtClean="0"/>
              <a:t>HTML documents </a:t>
            </a:r>
            <a:r>
              <a:rPr lang="en-US" sz="3200" b="1" dirty="0"/>
              <a:t>in 3 ways</a:t>
            </a:r>
            <a:r>
              <a:rPr lang="en-US" sz="3200" b="1" dirty="0" smtClean="0"/>
              <a:t>:</a:t>
            </a:r>
          </a:p>
          <a:p>
            <a:pPr>
              <a:buNone/>
            </a:pPr>
            <a:endParaRPr lang="en-US" dirty="0"/>
          </a:p>
          <a:p>
            <a:pPr marL="457200" indent="-457200">
              <a:buFont typeface="+mj-lt"/>
              <a:buAutoNum type="arabicParenR"/>
            </a:pPr>
            <a:r>
              <a:rPr lang="en-US" sz="3600" dirty="0" smtClean="0">
                <a:solidFill>
                  <a:srgbClr val="FF0000"/>
                </a:solidFill>
              </a:rPr>
              <a:t>Inline </a:t>
            </a:r>
          </a:p>
          <a:p>
            <a:pPr marL="457200" indent="-457200">
              <a:buFont typeface="+mj-lt"/>
              <a:buAutoNum type="arabicParenR"/>
            </a:pPr>
            <a:r>
              <a:rPr lang="en-US" sz="3600" dirty="0" smtClean="0">
                <a:solidFill>
                  <a:srgbClr val="FF0000"/>
                </a:solidFill>
              </a:rPr>
              <a:t>Internal </a:t>
            </a:r>
            <a:endParaRPr lang="en-US" sz="3600" dirty="0" smtClean="0"/>
          </a:p>
          <a:p>
            <a:pPr marL="457200" indent="-457200">
              <a:buFont typeface="+mj-lt"/>
              <a:buAutoNum type="arabicParenR"/>
            </a:pPr>
            <a:r>
              <a:rPr lang="en-US" sz="3600" dirty="0" smtClean="0">
                <a:solidFill>
                  <a:srgbClr val="FF0000"/>
                </a:solidFill>
              </a:rPr>
              <a:t>External</a:t>
            </a:r>
            <a:endParaRPr lang="en-AU"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967" y="332656"/>
            <a:ext cx="7467600" cy="724942"/>
          </a:xfrm>
        </p:spPr>
        <p:txBody>
          <a:bodyPr/>
          <a:lstStyle/>
          <a:p>
            <a:r>
              <a:rPr lang="en-US" b="1" dirty="0" smtClean="0">
                <a:solidFill>
                  <a:srgbClr val="FF0000"/>
                </a:solidFill>
              </a:rPr>
              <a:t>1) Inline </a:t>
            </a:r>
            <a:r>
              <a:rPr lang="en-US" b="1" dirty="0" err="1" smtClean="0">
                <a:solidFill>
                  <a:srgbClr val="FF0000"/>
                </a:solidFill>
              </a:rPr>
              <a:t>css</a:t>
            </a:r>
            <a:endParaRPr lang="en-IN" b="1" dirty="0">
              <a:solidFill>
                <a:srgbClr val="FF0000"/>
              </a:solidFill>
            </a:endParaRPr>
          </a:p>
        </p:txBody>
      </p:sp>
      <p:sp>
        <p:nvSpPr>
          <p:cNvPr id="3" name="Content Placeholder 2"/>
          <p:cNvSpPr>
            <a:spLocks noGrp="1"/>
          </p:cNvSpPr>
          <p:nvPr>
            <p:ph sz="quarter" idx="1"/>
          </p:nvPr>
        </p:nvSpPr>
        <p:spPr>
          <a:xfrm>
            <a:off x="539552" y="1196752"/>
            <a:ext cx="7467600" cy="4873752"/>
          </a:xfrm>
        </p:spPr>
        <p:txBody>
          <a:bodyPr/>
          <a:lstStyle/>
          <a:p>
            <a:r>
              <a:rPr lang="en-US" dirty="0" smtClean="0"/>
              <a:t>An </a:t>
            </a:r>
            <a:r>
              <a:rPr lang="en-US" dirty="0"/>
              <a:t>inline CSS is used to apply a unique style to a single HTML element</a:t>
            </a:r>
            <a:r>
              <a:rPr lang="en-US" dirty="0" smtClean="0"/>
              <a:t>.</a:t>
            </a:r>
          </a:p>
          <a:p>
            <a:r>
              <a:rPr lang="en-US" dirty="0"/>
              <a:t>Add inline CSS by using the </a:t>
            </a:r>
            <a:r>
              <a:rPr lang="en-US" b="1" dirty="0">
                <a:solidFill>
                  <a:srgbClr val="0000FF"/>
                </a:solidFill>
              </a:rPr>
              <a:t>style attribute </a:t>
            </a:r>
            <a:r>
              <a:rPr lang="en-US" dirty="0"/>
              <a:t>inside HTML elements.</a:t>
            </a:r>
          </a:p>
          <a:p>
            <a:r>
              <a:rPr lang="en-US" u="sng" dirty="0" smtClean="0">
                <a:solidFill>
                  <a:srgbClr val="FF0000"/>
                </a:solidFill>
              </a:rPr>
              <a:t>(We have already learned this in last semester)</a:t>
            </a:r>
            <a:endParaRPr lang="en-IN" u="sng" dirty="0">
              <a:solidFill>
                <a:srgbClr val="FF0000"/>
              </a:solidFill>
            </a:endParaRPr>
          </a:p>
        </p:txBody>
      </p:sp>
    </p:spTree>
    <p:extLst>
      <p:ext uri="{BB962C8B-B14F-4D97-AF65-F5344CB8AC3E}">
        <p14:creationId xmlns:p14="http://schemas.microsoft.com/office/powerpoint/2010/main" val="45401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23CD0-C731-57F1-0809-90A0EF13A822}"/>
              </a:ext>
            </a:extLst>
          </p:cNvPr>
          <p:cNvSpPr>
            <a:spLocks noGrp="1"/>
          </p:cNvSpPr>
          <p:nvPr>
            <p:ph type="title"/>
          </p:nvPr>
        </p:nvSpPr>
        <p:spPr>
          <a:xfrm>
            <a:off x="457200" y="116632"/>
            <a:ext cx="7467600" cy="638944"/>
          </a:xfrm>
        </p:spPr>
        <p:txBody>
          <a:bodyPr/>
          <a:lstStyle/>
          <a:p>
            <a:r>
              <a:rPr lang="en-AU" b="1" dirty="0" smtClean="0">
                <a:solidFill>
                  <a:srgbClr val="7030A0"/>
                </a:solidFill>
              </a:rPr>
              <a:t>Style attribute </a:t>
            </a:r>
            <a:endParaRPr lang="en-AU" b="1" dirty="0">
              <a:solidFill>
                <a:srgbClr val="7030A0"/>
              </a:solidFill>
            </a:endParaRPr>
          </a:p>
        </p:txBody>
      </p:sp>
      <p:sp>
        <p:nvSpPr>
          <p:cNvPr id="3" name="Content Placeholder 2"/>
          <p:cNvSpPr>
            <a:spLocks noGrp="1"/>
          </p:cNvSpPr>
          <p:nvPr>
            <p:ph sz="quarter" idx="1"/>
          </p:nvPr>
        </p:nvSpPr>
        <p:spPr>
          <a:xfrm>
            <a:off x="457200" y="1124744"/>
            <a:ext cx="7467600" cy="4873752"/>
          </a:xfrm>
        </p:spPr>
        <p:txBody>
          <a:bodyPr/>
          <a:lstStyle/>
          <a:p>
            <a:pPr>
              <a:lnSpc>
                <a:spcPct val="150000"/>
              </a:lnSpc>
            </a:pPr>
            <a:r>
              <a:rPr lang="en-US" dirty="0" smtClean="0"/>
              <a:t>The style attribute specifies the </a:t>
            </a:r>
            <a:r>
              <a:rPr lang="en-US" dirty="0" smtClean="0">
                <a:solidFill>
                  <a:srgbClr val="0000FF"/>
                </a:solidFill>
              </a:rPr>
              <a:t>inline style for an element</a:t>
            </a:r>
            <a:r>
              <a:rPr lang="en-US" dirty="0" smtClean="0"/>
              <a:t>.</a:t>
            </a:r>
          </a:p>
          <a:p>
            <a:pPr>
              <a:lnSpc>
                <a:spcPct val="150000"/>
              </a:lnSpc>
            </a:pPr>
            <a:r>
              <a:rPr lang="en-US" dirty="0" smtClean="0"/>
              <a:t>The style attribute can be </a:t>
            </a:r>
            <a:r>
              <a:rPr lang="en-US" dirty="0" smtClean="0">
                <a:solidFill>
                  <a:srgbClr val="0000FF"/>
                </a:solidFill>
              </a:rPr>
              <a:t>used on any HTML element</a:t>
            </a:r>
          </a:p>
          <a:p>
            <a:pPr>
              <a:lnSpc>
                <a:spcPct val="150000"/>
              </a:lnSpc>
            </a:pPr>
            <a:r>
              <a:rPr lang="en-US" b="1" u="sng" dirty="0" smtClean="0"/>
              <a:t>Syntax :</a:t>
            </a:r>
            <a:endParaRPr lang="en-US" b="1" u="sng" dirty="0"/>
          </a:p>
          <a:p>
            <a:pPr marL="0" indent="0">
              <a:lnSpc>
                <a:spcPct val="150000"/>
              </a:lnSpc>
              <a:buNone/>
            </a:pPr>
            <a:r>
              <a:rPr lang="en-US" dirty="0" smtClean="0">
                <a:solidFill>
                  <a:srgbClr val="0000FF"/>
                </a:solidFill>
              </a:rPr>
              <a:t>	</a:t>
            </a:r>
            <a:r>
              <a:rPr lang="en-US" b="1" dirty="0" smtClean="0">
                <a:solidFill>
                  <a:srgbClr val="0000FF"/>
                </a:solidFill>
              </a:rPr>
              <a:t>&lt; </a:t>
            </a:r>
            <a:r>
              <a:rPr lang="en-US" b="1" dirty="0" smtClean="0">
                <a:solidFill>
                  <a:srgbClr val="C00000"/>
                </a:solidFill>
              </a:rPr>
              <a:t>tag</a:t>
            </a:r>
            <a:r>
              <a:rPr lang="en-US" b="1" dirty="0" smtClean="0"/>
              <a:t> </a:t>
            </a:r>
            <a:r>
              <a:rPr lang="en-US" b="1" dirty="0" smtClean="0">
                <a:solidFill>
                  <a:srgbClr val="FF0000"/>
                </a:solidFill>
              </a:rPr>
              <a:t>style </a:t>
            </a:r>
            <a:r>
              <a:rPr lang="en-US" dirty="0" smtClean="0">
                <a:solidFill>
                  <a:srgbClr val="FF0000"/>
                </a:solidFill>
              </a:rPr>
              <a:t>= </a:t>
            </a:r>
            <a:r>
              <a:rPr lang="en-US" b="1" dirty="0" smtClean="0">
                <a:solidFill>
                  <a:srgbClr val="0000FF"/>
                </a:solidFill>
              </a:rPr>
              <a:t>property</a:t>
            </a:r>
            <a:r>
              <a:rPr lang="en-US" b="1" dirty="0">
                <a:solidFill>
                  <a:srgbClr val="0000FF"/>
                </a:solidFill>
              </a:rPr>
              <a:t>: </a:t>
            </a:r>
            <a:r>
              <a:rPr lang="en-US" b="1" dirty="0" smtClean="0">
                <a:solidFill>
                  <a:srgbClr val="0000FF"/>
                </a:solidFill>
              </a:rPr>
              <a:t>value</a:t>
            </a:r>
            <a:r>
              <a:rPr lang="en-US" b="1" dirty="0" smtClean="0"/>
              <a:t>; </a:t>
            </a:r>
            <a:r>
              <a:rPr lang="en-US" dirty="0" smtClean="0">
                <a:solidFill>
                  <a:srgbClr val="0000FF"/>
                </a:solidFill>
              </a:rPr>
              <a:t>&gt;</a:t>
            </a:r>
            <a:endParaRPr lang="en-US" dirty="0">
              <a:solidFill>
                <a:srgbClr val="0000FF"/>
              </a:solidFill>
            </a:endParaRPr>
          </a:p>
        </p:txBody>
      </p:sp>
    </p:spTree>
    <p:extLst>
      <p:ext uri="{BB962C8B-B14F-4D97-AF65-F5344CB8AC3E}">
        <p14:creationId xmlns:p14="http://schemas.microsoft.com/office/powerpoint/2010/main" val="1016796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pic>
        <p:nvPicPr>
          <p:cNvPr id="4" name="Picture 3"/>
          <p:cNvPicPr>
            <a:picLocks noChangeAspect="1"/>
          </p:cNvPicPr>
          <p:nvPr/>
        </p:nvPicPr>
        <p:blipFill>
          <a:blip r:embed="rId2"/>
          <a:stretch>
            <a:fillRect/>
          </a:stretch>
        </p:blipFill>
        <p:spPr>
          <a:xfrm>
            <a:off x="430738" y="1340768"/>
            <a:ext cx="7250652" cy="3528392"/>
          </a:xfrm>
          <a:prstGeom prst="rect">
            <a:avLst/>
          </a:prstGeom>
        </p:spPr>
      </p:pic>
      <p:pic>
        <p:nvPicPr>
          <p:cNvPr id="5" name="Picture 4"/>
          <p:cNvPicPr>
            <a:picLocks noChangeAspect="1"/>
          </p:cNvPicPr>
          <p:nvPr/>
        </p:nvPicPr>
        <p:blipFill>
          <a:blip r:embed="rId3"/>
          <a:stretch>
            <a:fillRect/>
          </a:stretch>
        </p:blipFill>
        <p:spPr>
          <a:xfrm>
            <a:off x="395536" y="5723455"/>
            <a:ext cx="3415283" cy="929983"/>
          </a:xfrm>
          <a:prstGeom prst="rect">
            <a:avLst/>
          </a:prstGeom>
        </p:spPr>
      </p:pic>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sp>
        <p:nvSpPr>
          <p:cNvPr id="7" name="TextBox 6"/>
          <p:cNvSpPr txBox="1"/>
          <p:nvPr/>
        </p:nvSpPr>
        <p:spPr>
          <a:xfrm>
            <a:off x="457200" y="5245169"/>
            <a:ext cx="1306488" cy="400110"/>
          </a:xfrm>
          <a:prstGeom prst="rect">
            <a:avLst/>
          </a:prstGeom>
          <a:noFill/>
        </p:spPr>
        <p:txBody>
          <a:bodyPr wrap="square" rtlCol="0">
            <a:spAutoFit/>
          </a:bodyPr>
          <a:lstStyle/>
          <a:p>
            <a:r>
              <a:rPr lang="en-US" sz="2000" b="1" u="sng" dirty="0" smtClean="0">
                <a:solidFill>
                  <a:srgbClr val="FF0066"/>
                </a:solidFill>
              </a:rPr>
              <a:t>Output:</a:t>
            </a:r>
            <a:endParaRPr lang="en-US" dirty="0">
              <a:solidFill>
                <a:srgbClr val="FF0066"/>
              </a:solidFill>
            </a:endParaRPr>
          </a:p>
        </p:txBody>
      </p:sp>
      <p:cxnSp>
        <p:nvCxnSpPr>
          <p:cNvPr id="8" name="Straight Connector 7"/>
          <p:cNvCxnSpPr/>
          <p:nvPr/>
        </p:nvCxnSpPr>
        <p:spPr>
          <a:xfrm>
            <a:off x="457200" y="4869160"/>
            <a:ext cx="8064896"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03958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967" y="332656"/>
            <a:ext cx="7467600" cy="724942"/>
          </a:xfrm>
        </p:spPr>
        <p:txBody>
          <a:bodyPr/>
          <a:lstStyle/>
          <a:p>
            <a:r>
              <a:rPr lang="en-US" b="1" dirty="0">
                <a:solidFill>
                  <a:srgbClr val="FF0000"/>
                </a:solidFill>
              </a:rPr>
              <a:t>2</a:t>
            </a:r>
            <a:r>
              <a:rPr lang="en-US" b="1" dirty="0" smtClean="0">
                <a:solidFill>
                  <a:srgbClr val="FF0000"/>
                </a:solidFill>
              </a:rPr>
              <a:t>) Internal </a:t>
            </a:r>
            <a:r>
              <a:rPr lang="en-US" b="1" dirty="0" err="1" smtClean="0">
                <a:solidFill>
                  <a:srgbClr val="FF0000"/>
                </a:solidFill>
              </a:rPr>
              <a:t>css</a:t>
            </a:r>
            <a:endParaRPr lang="en-IN" b="1" dirty="0">
              <a:solidFill>
                <a:srgbClr val="FF0000"/>
              </a:solidFill>
            </a:endParaRPr>
          </a:p>
        </p:txBody>
      </p:sp>
      <p:sp>
        <p:nvSpPr>
          <p:cNvPr id="3" name="Content Placeholder 2"/>
          <p:cNvSpPr>
            <a:spLocks noGrp="1"/>
          </p:cNvSpPr>
          <p:nvPr>
            <p:ph sz="quarter" idx="1"/>
          </p:nvPr>
        </p:nvSpPr>
        <p:spPr>
          <a:xfrm>
            <a:off x="539552" y="1196752"/>
            <a:ext cx="7776864" cy="4873752"/>
          </a:xfrm>
        </p:spPr>
        <p:txBody>
          <a:bodyPr/>
          <a:lstStyle/>
          <a:p>
            <a:r>
              <a:rPr lang="en-US" dirty="0"/>
              <a:t>An internal CSS is used to define a style for a single HTML page</a:t>
            </a:r>
            <a:r>
              <a:rPr lang="en-US" dirty="0" smtClean="0"/>
              <a:t>.</a:t>
            </a:r>
          </a:p>
          <a:p>
            <a:r>
              <a:rPr lang="en-US" dirty="0"/>
              <a:t>An internal CSS is defined </a:t>
            </a:r>
            <a:r>
              <a:rPr lang="en-US" b="1" dirty="0">
                <a:solidFill>
                  <a:srgbClr val="0000FF"/>
                </a:solidFill>
              </a:rPr>
              <a:t>in the </a:t>
            </a:r>
            <a:r>
              <a:rPr lang="en-US" b="1" dirty="0">
                <a:solidFill>
                  <a:srgbClr val="FF0000"/>
                </a:solidFill>
              </a:rPr>
              <a:t>&lt;head&gt; </a:t>
            </a:r>
            <a:r>
              <a:rPr lang="en-US" b="1" dirty="0">
                <a:solidFill>
                  <a:srgbClr val="0000FF"/>
                </a:solidFill>
              </a:rPr>
              <a:t>section </a:t>
            </a:r>
            <a:r>
              <a:rPr lang="en-US" dirty="0"/>
              <a:t>of an HTML page, </a:t>
            </a:r>
            <a:r>
              <a:rPr lang="en-US" b="1" dirty="0">
                <a:solidFill>
                  <a:srgbClr val="0000FF"/>
                </a:solidFill>
              </a:rPr>
              <a:t>within a </a:t>
            </a:r>
            <a:r>
              <a:rPr lang="en-US" b="1" dirty="0">
                <a:solidFill>
                  <a:srgbClr val="FF0000"/>
                </a:solidFill>
              </a:rPr>
              <a:t>&lt;style&gt; </a:t>
            </a:r>
            <a:r>
              <a:rPr lang="en-US" b="1" dirty="0">
                <a:solidFill>
                  <a:srgbClr val="0000FF"/>
                </a:solidFill>
              </a:rPr>
              <a:t>element</a:t>
            </a:r>
            <a:r>
              <a:rPr lang="en-US" dirty="0" smtClean="0"/>
              <a:t>.</a:t>
            </a:r>
          </a:p>
          <a:p>
            <a:pPr marL="0" indent="0">
              <a:buNone/>
            </a:pPr>
            <a:endParaRPr lang="en-IN" u="sng" dirty="0">
              <a:solidFill>
                <a:srgbClr val="FF0000"/>
              </a:solidFill>
            </a:endParaRPr>
          </a:p>
        </p:txBody>
      </p:sp>
    </p:spTree>
    <p:extLst>
      <p:ext uri="{BB962C8B-B14F-4D97-AF65-F5344CB8AC3E}">
        <p14:creationId xmlns:p14="http://schemas.microsoft.com/office/powerpoint/2010/main" val="336747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pic>
        <p:nvPicPr>
          <p:cNvPr id="3" name="Picture 2"/>
          <p:cNvPicPr>
            <a:picLocks noChangeAspect="1"/>
          </p:cNvPicPr>
          <p:nvPr/>
        </p:nvPicPr>
        <p:blipFill>
          <a:blip r:embed="rId2"/>
          <a:stretch>
            <a:fillRect/>
          </a:stretch>
        </p:blipFill>
        <p:spPr>
          <a:xfrm>
            <a:off x="457200" y="1340768"/>
            <a:ext cx="7414887" cy="5299196"/>
          </a:xfrm>
          <a:prstGeom prst="rect">
            <a:avLst/>
          </a:prstGeom>
        </p:spPr>
      </p:pic>
    </p:spTree>
    <p:extLst>
      <p:ext uri="{BB962C8B-B14F-4D97-AF65-F5344CB8AC3E}">
        <p14:creationId xmlns:p14="http://schemas.microsoft.com/office/powerpoint/2010/main" val="204108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7" name="TextBox 6"/>
          <p:cNvSpPr txBox="1"/>
          <p:nvPr/>
        </p:nvSpPr>
        <p:spPr>
          <a:xfrm>
            <a:off x="477455" y="908720"/>
            <a:ext cx="1306488" cy="400110"/>
          </a:xfrm>
          <a:prstGeom prst="rect">
            <a:avLst/>
          </a:prstGeom>
          <a:noFill/>
        </p:spPr>
        <p:txBody>
          <a:bodyPr wrap="square" rtlCol="0">
            <a:spAutoFit/>
          </a:bodyPr>
          <a:lstStyle/>
          <a:p>
            <a:r>
              <a:rPr lang="en-US" sz="2000" b="1" u="sng" dirty="0" smtClean="0">
                <a:solidFill>
                  <a:srgbClr val="FF0066"/>
                </a:solidFill>
              </a:rPr>
              <a:t>Output:</a:t>
            </a:r>
            <a:endParaRPr lang="en-US" dirty="0">
              <a:solidFill>
                <a:srgbClr val="FF0066"/>
              </a:solidFill>
            </a:endParaRPr>
          </a:p>
        </p:txBody>
      </p:sp>
      <p:pic>
        <p:nvPicPr>
          <p:cNvPr id="4" name="Picture 3"/>
          <p:cNvPicPr>
            <a:picLocks noChangeAspect="1"/>
          </p:cNvPicPr>
          <p:nvPr/>
        </p:nvPicPr>
        <p:blipFill>
          <a:blip r:embed="rId2"/>
          <a:stretch>
            <a:fillRect/>
          </a:stretch>
        </p:blipFill>
        <p:spPr>
          <a:xfrm>
            <a:off x="508752" y="1452846"/>
            <a:ext cx="5071360" cy="3249864"/>
          </a:xfrm>
          <a:prstGeom prst="rect">
            <a:avLst/>
          </a:prstGeom>
        </p:spPr>
      </p:pic>
    </p:spTree>
    <p:extLst>
      <p:ext uri="{BB962C8B-B14F-4D97-AF65-F5344CB8AC3E}">
        <p14:creationId xmlns:p14="http://schemas.microsoft.com/office/powerpoint/2010/main" val="4132883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7467600" cy="724942"/>
          </a:xfrm>
        </p:spPr>
        <p:txBody>
          <a:bodyPr/>
          <a:lstStyle/>
          <a:p>
            <a:r>
              <a:rPr lang="en-US" b="1" dirty="0" smtClean="0">
                <a:solidFill>
                  <a:srgbClr val="FF0000"/>
                </a:solidFill>
              </a:rPr>
              <a:t>3) </a:t>
            </a:r>
            <a:r>
              <a:rPr lang="en-US" b="1" dirty="0" err="1" smtClean="0">
                <a:solidFill>
                  <a:srgbClr val="FF0000"/>
                </a:solidFill>
              </a:rPr>
              <a:t>Extranal</a:t>
            </a:r>
            <a:r>
              <a:rPr lang="en-US" b="1" dirty="0" smtClean="0">
                <a:solidFill>
                  <a:srgbClr val="FF0000"/>
                </a:solidFill>
              </a:rPr>
              <a:t> </a:t>
            </a:r>
            <a:r>
              <a:rPr lang="en-US" b="1" dirty="0" err="1" smtClean="0">
                <a:solidFill>
                  <a:srgbClr val="FF0000"/>
                </a:solidFill>
              </a:rPr>
              <a:t>css</a:t>
            </a:r>
            <a:endParaRPr lang="en-IN" b="1" dirty="0">
              <a:solidFill>
                <a:srgbClr val="FF0000"/>
              </a:solidFill>
            </a:endParaRPr>
          </a:p>
        </p:txBody>
      </p:sp>
      <p:sp>
        <p:nvSpPr>
          <p:cNvPr id="3" name="Content Placeholder 2"/>
          <p:cNvSpPr>
            <a:spLocks noGrp="1"/>
          </p:cNvSpPr>
          <p:nvPr>
            <p:ph sz="quarter" idx="1"/>
          </p:nvPr>
        </p:nvSpPr>
        <p:spPr>
          <a:xfrm>
            <a:off x="467544" y="724942"/>
            <a:ext cx="7992888" cy="5944418"/>
          </a:xfrm>
        </p:spPr>
        <p:txBody>
          <a:bodyPr>
            <a:normAutofit fontScale="92500"/>
          </a:bodyPr>
          <a:lstStyle/>
          <a:p>
            <a:r>
              <a:rPr lang="en-US" dirty="0"/>
              <a:t>An external style sheet is used to define the style for many HTML pages</a:t>
            </a:r>
            <a:r>
              <a:rPr lang="en-US" dirty="0" smtClean="0"/>
              <a:t>.</a:t>
            </a:r>
          </a:p>
          <a:p>
            <a:r>
              <a:rPr lang="en-US" dirty="0"/>
              <a:t>The external style sheet can be written in any text editor. The file must not contain any HTML code, and </a:t>
            </a:r>
            <a:r>
              <a:rPr lang="en-US" b="1" dirty="0">
                <a:solidFill>
                  <a:srgbClr val="0000FF"/>
                </a:solidFill>
              </a:rPr>
              <a:t>must be saved with a </a:t>
            </a:r>
            <a:r>
              <a:rPr lang="en-US" b="1" dirty="0">
                <a:solidFill>
                  <a:srgbClr val="FF0000"/>
                </a:solidFill>
              </a:rPr>
              <a:t>.</a:t>
            </a:r>
            <a:r>
              <a:rPr lang="en-US" b="1" dirty="0" err="1">
                <a:solidFill>
                  <a:srgbClr val="FF0000"/>
                </a:solidFill>
              </a:rPr>
              <a:t>css</a:t>
            </a:r>
            <a:r>
              <a:rPr lang="en-US" b="1" dirty="0">
                <a:solidFill>
                  <a:srgbClr val="FF0000"/>
                </a:solidFill>
              </a:rPr>
              <a:t> </a:t>
            </a:r>
            <a:r>
              <a:rPr lang="en-US" b="1" dirty="0" smtClean="0">
                <a:solidFill>
                  <a:srgbClr val="0000FF"/>
                </a:solidFill>
              </a:rPr>
              <a:t>extension</a:t>
            </a:r>
            <a:r>
              <a:rPr lang="en-US" dirty="0" smtClean="0"/>
              <a:t>.</a:t>
            </a:r>
            <a:endParaRPr lang="en-US" dirty="0"/>
          </a:p>
          <a:p>
            <a:r>
              <a:rPr lang="en-US" dirty="0"/>
              <a:t>To </a:t>
            </a:r>
            <a:r>
              <a:rPr lang="en-US" dirty="0" smtClean="0"/>
              <a:t>link an </a:t>
            </a:r>
            <a:r>
              <a:rPr lang="en-US" dirty="0"/>
              <a:t>external style </a:t>
            </a:r>
            <a:r>
              <a:rPr lang="en-US" dirty="0" smtClean="0"/>
              <a:t>sheet in HTML, </a:t>
            </a:r>
            <a:r>
              <a:rPr lang="en-US" dirty="0"/>
              <a:t>add a </a:t>
            </a:r>
            <a:r>
              <a:rPr lang="en-US" b="1" dirty="0" smtClean="0">
                <a:solidFill>
                  <a:srgbClr val="FF0000"/>
                </a:solidFill>
              </a:rPr>
              <a:t>&lt;link&gt; </a:t>
            </a:r>
            <a:r>
              <a:rPr lang="en-US" dirty="0"/>
              <a:t>to it in the </a:t>
            </a:r>
            <a:r>
              <a:rPr lang="en-US" b="1" dirty="0">
                <a:solidFill>
                  <a:srgbClr val="FF0000"/>
                </a:solidFill>
              </a:rPr>
              <a:t>&lt;head&gt; </a:t>
            </a:r>
            <a:r>
              <a:rPr lang="en-US" dirty="0"/>
              <a:t>section of each HTML </a:t>
            </a:r>
            <a:r>
              <a:rPr lang="en-US" dirty="0" smtClean="0"/>
              <a:t>page.</a:t>
            </a:r>
          </a:p>
          <a:p>
            <a:r>
              <a:rPr lang="en-US" dirty="0"/>
              <a:t>The &lt;link&gt; HTML element specifies relationships between the current document and an external resource. </a:t>
            </a:r>
            <a:endParaRPr lang="en-US" dirty="0" smtClean="0"/>
          </a:p>
          <a:p>
            <a:pPr>
              <a:lnSpc>
                <a:spcPct val="150000"/>
              </a:lnSpc>
            </a:pPr>
            <a:r>
              <a:rPr lang="en-US" b="1" u="sng" dirty="0"/>
              <a:t>Syntax :</a:t>
            </a:r>
          </a:p>
          <a:p>
            <a:pPr marL="0" indent="0">
              <a:lnSpc>
                <a:spcPct val="150000"/>
              </a:lnSpc>
              <a:buNone/>
            </a:pPr>
            <a:r>
              <a:rPr lang="en-US" dirty="0">
                <a:solidFill>
                  <a:srgbClr val="0000FF"/>
                </a:solidFill>
              </a:rPr>
              <a:t>	</a:t>
            </a:r>
            <a:r>
              <a:rPr lang="en-US" b="1" dirty="0">
                <a:solidFill>
                  <a:srgbClr val="0000FF"/>
                </a:solidFill>
              </a:rPr>
              <a:t>&lt; </a:t>
            </a:r>
            <a:r>
              <a:rPr lang="en-US" b="1" dirty="0" smtClean="0">
                <a:solidFill>
                  <a:srgbClr val="C00000"/>
                </a:solidFill>
              </a:rPr>
              <a:t>link</a:t>
            </a:r>
            <a:r>
              <a:rPr lang="en-US" b="1" dirty="0" smtClean="0"/>
              <a:t> </a:t>
            </a:r>
            <a:r>
              <a:rPr lang="en-US" b="1" dirty="0" err="1" smtClean="0">
                <a:solidFill>
                  <a:srgbClr val="FF0000"/>
                </a:solidFill>
              </a:rPr>
              <a:t>href</a:t>
            </a:r>
            <a:r>
              <a:rPr lang="en-US" b="1" dirty="0" smtClean="0">
                <a:solidFill>
                  <a:srgbClr val="FF0000"/>
                </a:solidFill>
              </a:rPr>
              <a:t> </a:t>
            </a:r>
            <a:r>
              <a:rPr lang="en-US" dirty="0">
                <a:solidFill>
                  <a:srgbClr val="FF0000"/>
                </a:solidFill>
              </a:rPr>
              <a:t>= </a:t>
            </a:r>
            <a:r>
              <a:rPr lang="en-US" b="1" dirty="0" smtClean="0">
                <a:solidFill>
                  <a:srgbClr val="0000FF"/>
                </a:solidFill>
              </a:rPr>
              <a:t>“style.css” </a:t>
            </a:r>
            <a:r>
              <a:rPr lang="en-US" b="1" dirty="0" err="1" smtClean="0">
                <a:solidFill>
                  <a:srgbClr val="FF0000"/>
                </a:solidFill>
              </a:rPr>
              <a:t>rel</a:t>
            </a:r>
            <a:r>
              <a:rPr lang="en-US" b="1" dirty="0" smtClean="0">
                <a:solidFill>
                  <a:srgbClr val="FF0000"/>
                </a:solidFill>
              </a:rPr>
              <a:t> </a:t>
            </a:r>
            <a:r>
              <a:rPr lang="en-US" dirty="0">
                <a:solidFill>
                  <a:srgbClr val="FF0000"/>
                </a:solidFill>
              </a:rPr>
              <a:t>= </a:t>
            </a:r>
            <a:r>
              <a:rPr lang="en-US" b="1" dirty="0" smtClean="0">
                <a:solidFill>
                  <a:srgbClr val="0000FF"/>
                </a:solidFill>
              </a:rPr>
              <a:t>“stylesheet”</a:t>
            </a:r>
            <a:r>
              <a:rPr lang="en-US" b="1" dirty="0" smtClean="0"/>
              <a:t> </a:t>
            </a:r>
            <a:r>
              <a:rPr lang="en-US" dirty="0" smtClean="0">
                <a:solidFill>
                  <a:srgbClr val="0000FF"/>
                </a:solidFill>
              </a:rPr>
              <a:t>&gt;</a:t>
            </a:r>
          </a:p>
          <a:p>
            <a:pPr marL="0" indent="0">
              <a:lnSpc>
                <a:spcPct val="150000"/>
              </a:lnSpc>
              <a:buNone/>
            </a:pPr>
            <a:endParaRPr lang="en-US" sz="1200" dirty="0">
              <a:solidFill>
                <a:srgbClr val="0000FF"/>
              </a:solidFill>
            </a:endParaRPr>
          </a:p>
          <a:p>
            <a:pPr lvl="1"/>
            <a:r>
              <a:rPr lang="en-US" b="1" dirty="0" err="1" smtClean="0">
                <a:solidFill>
                  <a:srgbClr val="FF0000"/>
                </a:solidFill>
              </a:rPr>
              <a:t>href</a:t>
            </a:r>
            <a:r>
              <a:rPr lang="en-US" b="1" dirty="0" smtClean="0">
                <a:solidFill>
                  <a:srgbClr val="FF0000"/>
                </a:solidFill>
              </a:rPr>
              <a:t> </a:t>
            </a:r>
            <a:r>
              <a:rPr lang="en-US" dirty="0"/>
              <a:t>attribute</a:t>
            </a:r>
            <a:r>
              <a:rPr lang="en-US" b="1" dirty="0">
                <a:solidFill>
                  <a:srgbClr val="FF0000"/>
                </a:solidFill>
              </a:rPr>
              <a:t> </a:t>
            </a:r>
            <a:r>
              <a:rPr lang="en-US" dirty="0"/>
              <a:t>specifies the </a:t>
            </a:r>
            <a:r>
              <a:rPr lang="en-US" u="sng" dirty="0">
                <a:hlinkClick r:id="rId2"/>
              </a:rPr>
              <a:t>URL</a:t>
            </a:r>
            <a:r>
              <a:rPr lang="en-US" dirty="0"/>
              <a:t> of the linked resource</a:t>
            </a:r>
            <a:r>
              <a:rPr lang="en-US" dirty="0" smtClean="0"/>
              <a:t>.</a:t>
            </a:r>
          </a:p>
          <a:p>
            <a:pPr lvl="1"/>
            <a:r>
              <a:rPr lang="en-US" b="1" dirty="0" err="1" smtClean="0">
                <a:solidFill>
                  <a:srgbClr val="FF0000"/>
                </a:solidFill>
              </a:rPr>
              <a:t>rel</a:t>
            </a:r>
            <a:r>
              <a:rPr lang="en-US" b="1" dirty="0" smtClean="0">
                <a:solidFill>
                  <a:srgbClr val="FF0000"/>
                </a:solidFill>
              </a:rPr>
              <a:t> </a:t>
            </a:r>
            <a:r>
              <a:rPr lang="en-US" dirty="0"/>
              <a:t>attribute specifies </a:t>
            </a:r>
            <a:r>
              <a:rPr lang="en-US" dirty="0" smtClean="0"/>
              <a:t>relationship </a:t>
            </a:r>
            <a:r>
              <a:rPr lang="en-US" dirty="0"/>
              <a:t>of the linked document to the current document  </a:t>
            </a:r>
            <a:endParaRPr lang="en-US" dirty="0" smtClean="0"/>
          </a:p>
          <a:p>
            <a:endParaRPr lang="en-IN" u="sng" dirty="0">
              <a:solidFill>
                <a:srgbClr val="FF0000"/>
              </a:solidFill>
            </a:endParaRPr>
          </a:p>
        </p:txBody>
      </p:sp>
    </p:spTree>
    <p:extLst>
      <p:ext uri="{BB962C8B-B14F-4D97-AF65-F5344CB8AC3E}">
        <p14:creationId xmlns:p14="http://schemas.microsoft.com/office/powerpoint/2010/main" val="3047961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pic>
        <p:nvPicPr>
          <p:cNvPr id="4" name="Picture 3"/>
          <p:cNvPicPr>
            <a:picLocks noChangeAspect="1"/>
          </p:cNvPicPr>
          <p:nvPr/>
        </p:nvPicPr>
        <p:blipFill>
          <a:blip r:embed="rId2"/>
          <a:stretch>
            <a:fillRect/>
          </a:stretch>
        </p:blipFill>
        <p:spPr>
          <a:xfrm>
            <a:off x="469668" y="2060848"/>
            <a:ext cx="6823395" cy="4369241"/>
          </a:xfrm>
          <a:prstGeom prst="rect">
            <a:avLst/>
          </a:prstGeom>
        </p:spPr>
      </p:pic>
      <p:sp>
        <p:nvSpPr>
          <p:cNvPr id="5" name="Rectangle 4"/>
          <p:cNvSpPr/>
          <p:nvPr/>
        </p:nvSpPr>
        <p:spPr>
          <a:xfrm>
            <a:off x="524311" y="2711365"/>
            <a:ext cx="6408712" cy="28803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7" name="TextBox 6"/>
          <p:cNvSpPr txBox="1"/>
          <p:nvPr/>
        </p:nvSpPr>
        <p:spPr>
          <a:xfrm>
            <a:off x="469668" y="1254770"/>
            <a:ext cx="2518156" cy="400110"/>
          </a:xfrm>
          <a:prstGeom prst="rect">
            <a:avLst/>
          </a:prstGeom>
          <a:noFill/>
        </p:spPr>
        <p:txBody>
          <a:bodyPr wrap="square" rtlCol="0">
            <a:spAutoFit/>
          </a:bodyPr>
          <a:lstStyle/>
          <a:p>
            <a:r>
              <a:rPr lang="en-US" sz="2000" b="1" u="sng" dirty="0" smtClean="0">
                <a:solidFill>
                  <a:srgbClr val="0000FF"/>
                </a:solidFill>
              </a:rPr>
              <a:t>1) style.css</a:t>
            </a:r>
            <a:endParaRPr lang="en-US" dirty="0">
              <a:solidFill>
                <a:srgbClr val="0000FF"/>
              </a:solidFill>
            </a:endParaRPr>
          </a:p>
        </p:txBody>
      </p:sp>
    </p:spTree>
    <p:extLst>
      <p:ext uri="{BB962C8B-B14F-4D97-AF65-F5344CB8AC3E}">
        <p14:creationId xmlns:p14="http://schemas.microsoft.com/office/powerpoint/2010/main" val="1770851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sp>
        <p:nvSpPr>
          <p:cNvPr id="7" name="TextBox 6"/>
          <p:cNvSpPr txBox="1"/>
          <p:nvPr/>
        </p:nvSpPr>
        <p:spPr>
          <a:xfrm>
            <a:off x="469668" y="1254770"/>
            <a:ext cx="2518156" cy="400110"/>
          </a:xfrm>
          <a:prstGeom prst="rect">
            <a:avLst/>
          </a:prstGeom>
          <a:noFill/>
        </p:spPr>
        <p:txBody>
          <a:bodyPr wrap="square" rtlCol="0">
            <a:spAutoFit/>
          </a:bodyPr>
          <a:lstStyle/>
          <a:p>
            <a:r>
              <a:rPr lang="en-US" sz="2000" b="1" u="sng" dirty="0" smtClean="0">
                <a:solidFill>
                  <a:srgbClr val="0000FF"/>
                </a:solidFill>
              </a:rPr>
              <a:t>2) index.html</a:t>
            </a:r>
            <a:endParaRPr lang="en-US" dirty="0">
              <a:solidFill>
                <a:srgbClr val="0000FF"/>
              </a:solidFill>
            </a:endParaRPr>
          </a:p>
        </p:txBody>
      </p:sp>
      <p:pic>
        <p:nvPicPr>
          <p:cNvPr id="3" name="Picture 2"/>
          <p:cNvPicPr>
            <a:picLocks noChangeAspect="1"/>
          </p:cNvPicPr>
          <p:nvPr/>
        </p:nvPicPr>
        <p:blipFill>
          <a:blip r:embed="rId2"/>
          <a:stretch>
            <a:fillRect/>
          </a:stretch>
        </p:blipFill>
        <p:spPr>
          <a:xfrm>
            <a:off x="522743" y="1844824"/>
            <a:ext cx="7431649" cy="4508446"/>
          </a:xfrm>
          <a:prstGeom prst="rect">
            <a:avLst/>
          </a:prstGeom>
        </p:spPr>
      </p:pic>
      <p:sp>
        <p:nvSpPr>
          <p:cNvPr id="8" name="Rectangle 7"/>
          <p:cNvSpPr/>
          <p:nvPr/>
        </p:nvSpPr>
        <p:spPr>
          <a:xfrm>
            <a:off x="611560" y="2244934"/>
            <a:ext cx="6408712" cy="24796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9941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7283152" cy="519675"/>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7" name="TextBox 6"/>
          <p:cNvSpPr txBox="1"/>
          <p:nvPr/>
        </p:nvSpPr>
        <p:spPr>
          <a:xfrm>
            <a:off x="477455" y="908720"/>
            <a:ext cx="1306488" cy="400110"/>
          </a:xfrm>
          <a:prstGeom prst="rect">
            <a:avLst/>
          </a:prstGeom>
          <a:noFill/>
        </p:spPr>
        <p:txBody>
          <a:bodyPr wrap="square" rtlCol="0">
            <a:spAutoFit/>
          </a:bodyPr>
          <a:lstStyle/>
          <a:p>
            <a:r>
              <a:rPr lang="en-US" sz="2000" b="1" u="sng" dirty="0" smtClean="0">
                <a:solidFill>
                  <a:srgbClr val="FF0066"/>
                </a:solidFill>
              </a:rPr>
              <a:t>Output:</a:t>
            </a:r>
            <a:endParaRPr lang="en-US" dirty="0">
              <a:solidFill>
                <a:srgbClr val="FF0066"/>
              </a:solidFill>
            </a:endParaRPr>
          </a:p>
        </p:txBody>
      </p:sp>
      <p:pic>
        <p:nvPicPr>
          <p:cNvPr id="4" name="Picture 3"/>
          <p:cNvPicPr>
            <a:picLocks noChangeAspect="1"/>
          </p:cNvPicPr>
          <p:nvPr/>
        </p:nvPicPr>
        <p:blipFill>
          <a:blip r:embed="rId2"/>
          <a:stretch>
            <a:fillRect/>
          </a:stretch>
        </p:blipFill>
        <p:spPr>
          <a:xfrm>
            <a:off x="508752" y="1452846"/>
            <a:ext cx="5071360" cy="3249864"/>
          </a:xfrm>
          <a:prstGeom prst="rect">
            <a:avLst/>
          </a:prstGeom>
        </p:spPr>
      </p:pic>
      <p:sp>
        <p:nvSpPr>
          <p:cNvPr id="3" name="Rectangle 2"/>
          <p:cNvSpPr/>
          <p:nvPr/>
        </p:nvSpPr>
        <p:spPr>
          <a:xfrm>
            <a:off x="549560" y="5517232"/>
            <a:ext cx="7015576" cy="646331"/>
          </a:xfrm>
          <a:prstGeom prst="rect">
            <a:avLst/>
          </a:prstGeom>
        </p:spPr>
        <p:txBody>
          <a:bodyPr wrap="square">
            <a:spAutoFit/>
          </a:bodyPr>
          <a:lstStyle/>
          <a:p>
            <a:r>
              <a:rPr lang="en-US" dirty="0">
                <a:solidFill>
                  <a:srgbClr val="000000"/>
                </a:solidFill>
                <a:latin typeface="Verdana" panose="020B0604030504040204" pitchFamily="34" charset="0"/>
              </a:rPr>
              <a:t>With an external style sheet, you can change the look of an entire web site, by changing one file!</a:t>
            </a:r>
            <a:endParaRPr lang="en-IN" dirty="0"/>
          </a:p>
        </p:txBody>
      </p:sp>
      <p:sp>
        <p:nvSpPr>
          <p:cNvPr id="6" name="TextBox 5"/>
          <p:cNvSpPr txBox="1"/>
          <p:nvPr/>
        </p:nvSpPr>
        <p:spPr>
          <a:xfrm>
            <a:off x="549560" y="5002715"/>
            <a:ext cx="1306488" cy="400110"/>
          </a:xfrm>
          <a:prstGeom prst="rect">
            <a:avLst/>
          </a:prstGeom>
          <a:noFill/>
        </p:spPr>
        <p:txBody>
          <a:bodyPr wrap="square" rtlCol="0">
            <a:spAutoFit/>
          </a:bodyPr>
          <a:lstStyle/>
          <a:p>
            <a:r>
              <a:rPr lang="en-US" sz="2000" b="1" u="sng" dirty="0" smtClean="0">
                <a:solidFill>
                  <a:srgbClr val="FF0066"/>
                </a:solidFill>
              </a:rPr>
              <a:t>Note:</a:t>
            </a:r>
            <a:endParaRPr lang="en-US" dirty="0">
              <a:solidFill>
                <a:srgbClr val="FF0066"/>
              </a:solidFill>
            </a:endParaRPr>
          </a:p>
        </p:txBody>
      </p:sp>
    </p:spTree>
    <p:extLst>
      <p:ext uri="{BB962C8B-B14F-4D97-AF65-F5344CB8AC3E}">
        <p14:creationId xmlns:p14="http://schemas.microsoft.com/office/powerpoint/2010/main" val="61261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7467600" cy="580926"/>
          </a:xfrm>
        </p:spPr>
        <p:txBody>
          <a:bodyPr/>
          <a:lstStyle/>
          <a:p>
            <a:r>
              <a:rPr lang="en-IN" dirty="0">
                <a:solidFill>
                  <a:srgbClr val="7030A0"/>
                </a:solidFill>
              </a:rPr>
              <a:t>CSS </a:t>
            </a:r>
            <a:r>
              <a:rPr lang="en-IN" dirty="0" smtClean="0">
                <a:solidFill>
                  <a:srgbClr val="7030A0"/>
                </a:solidFill>
              </a:rPr>
              <a:t>syntax</a:t>
            </a:r>
            <a:endParaRPr lang="en-IN" dirty="0">
              <a:solidFill>
                <a:srgbClr val="7030A0"/>
              </a:solidFill>
            </a:endParaRPr>
          </a:p>
        </p:txBody>
      </p:sp>
      <p:pic>
        <p:nvPicPr>
          <p:cNvPr id="6" name="Picture 5"/>
          <p:cNvPicPr>
            <a:picLocks noChangeAspect="1"/>
          </p:cNvPicPr>
          <p:nvPr/>
        </p:nvPicPr>
        <p:blipFill>
          <a:blip r:embed="rId2"/>
          <a:stretch>
            <a:fillRect/>
          </a:stretch>
        </p:blipFill>
        <p:spPr>
          <a:xfrm>
            <a:off x="1259632" y="2420888"/>
            <a:ext cx="6408712" cy="1924379"/>
          </a:xfrm>
          <a:prstGeom prst="rect">
            <a:avLst/>
          </a:prstGeom>
        </p:spPr>
      </p:pic>
      <p:sp>
        <p:nvSpPr>
          <p:cNvPr id="10" name="Content Placeholder 2"/>
          <p:cNvSpPr>
            <a:spLocks noGrp="1"/>
          </p:cNvSpPr>
          <p:nvPr>
            <p:ph sz="quarter" idx="1"/>
          </p:nvPr>
        </p:nvSpPr>
        <p:spPr>
          <a:xfrm>
            <a:off x="457200" y="908720"/>
            <a:ext cx="7931224" cy="1944216"/>
          </a:xfrm>
        </p:spPr>
        <p:txBody>
          <a:bodyPr>
            <a:normAutofit lnSpcReduction="10000"/>
          </a:bodyPr>
          <a:lstStyle/>
          <a:p>
            <a:pPr fontAlgn="base"/>
            <a:r>
              <a:rPr lang="en-US" sz="2000" dirty="0"/>
              <a:t>A CSS </a:t>
            </a:r>
            <a:r>
              <a:rPr lang="en-US" sz="2000" dirty="0" smtClean="0"/>
              <a:t>consists </a:t>
            </a:r>
            <a:r>
              <a:rPr lang="en-US" sz="2000" dirty="0"/>
              <a:t>of a set of rules that are interpreted by the web browser and then applied to the corresponding elements such as paragraphs, headings, etc. in the document.</a:t>
            </a:r>
          </a:p>
          <a:p>
            <a:pPr fontAlgn="base"/>
            <a:r>
              <a:rPr lang="en-US" sz="2000" dirty="0"/>
              <a:t>A CSS rule have two main parts, a selector and one or more declarations:</a:t>
            </a:r>
          </a:p>
          <a:p>
            <a:pPr marL="365760" lvl="1" indent="0">
              <a:buNone/>
            </a:pPr>
            <a:r>
              <a:rPr lang="en-US" dirty="0"/>
              <a:t> </a:t>
            </a:r>
            <a:endParaRPr lang="en-US" dirty="0" smtClean="0"/>
          </a:p>
          <a:p>
            <a:endParaRPr lang="en-IN" u="sng" dirty="0">
              <a:solidFill>
                <a:srgbClr val="FF0000"/>
              </a:solidFill>
            </a:endParaRPr>
          </a:p>
        </p:txBody>
      </p:sp>
      <p:sp>
        <p:nvSpPr>
          <p:cNvPr id="12" name="Rectangle 11"/>
          <p:cNvSpPr/>
          <p:nvPr/>
        </p:nvSpPr>
        <p:spPr>
          <a:xfrm>
            <a:off x="473364" y="4345267"/>
            <a:ext cx="7915060" cy="2308324"/>
          </a:xfrm>
          <a:prstGeom prst="rect">
            <a:avLst/>
          </a:prstGeom>
        </p:spPr>
        <p:txBody>
          <a:bodyPr wrap="square">
            <a:spAutoFit/>
          </a:bodyPr>
          <a:lstStyle/>
          <a:p>
            <a:pPr marL="742950" lvl="1" indent="-285750">
              <a:buFont typeface="Arial" panose="020B0604020202020204" pitchFamily="34" charset="0"/>
              <a:buChar char="•"/>
            </a:pPr>
            <a:r>
              <a:rPr lang="en-IN" dirty="0"/>
              <a:t>The </a:t>
            </a:r>
            <a:r>
              <a:rPr lang="en-IN" b="1" dirty="0">
                <a:solidFill>
                  <a:srgbClr val="FF0066"/>
                </a:solidFill>
              </a:rPr>
              <a:t>selector</a:t>
            </a:r>
            <a:r>
              <a:rPr lang="en-IN" dirty="0"/>
              <a:t> specifies which element or elements in the HTML page the CSS rule applies to.</a:t>
            </a:r>
          </a:p>
          <a:p>
            <a:endParaRPr lang="en-IN" dirty="0"/>
          </a:p>
          <a:p>
            <a:pPr marL="742950" lvl="1" indent="-285750">
              <a:buFont typeface="Arial" panose="020B0604020202020204" pitchFamily="34" charset="0"/>
              <a:buChar char="•"/>
            </a:pPr>
            <a:r>
              <a:rPr lang="en-IN" dirty="0"/>
              <a:t>Whereas, the </a:t>
            </a:r>
            <a:r>
              <a:rPr lang="en-IN" b="1" dirty="0">
                <a:solidFill>
                  <a:srgbClr val="FF0000"/>
                </a:solidFill>
              </a:rPr>
              <a:t>declarations</a:t>
            </a:r>
            <a:r>
              <a:rPr lang="en-IN" dirty="0"/>
              <a:t> within the block determines how the elements are formatted on a webpage. Each declaration consists of a </a:t>
            </a:r>
            <a:r>
              <a:rPr lang="en-IN" b="1" dirty="0">
                <a:solidFill>
                  <a:srgbClr val="0070C0"/>
                </a:solidFill>
              </a:rPr>
              <a:t>property</a:t>
            </a:r>
            <a:r>
              <a:rPr lang="en-IN" dirty="0"/>
              <a:t> and a </a:t>
            </a:r>
            <a:r>
              <a:rPr lang="en-IN" b="1" dirty="0">
                <a:solidFill>
                  <a:srgbClr val="92D050"/>
                </a:solidFill>
              </a:rPr>
              <a:t>value</a:t>
            </a:r>
            <a:r>
              <a:rPr lang="en-IN" dirty="0"/>
              <a:t> separated by a </a:t>
            </a:r>
            <a:r>
              <a:rPr lang="en-IN" b="1" dirty="0"/>
              <a:t>colon (:) </a:t>
            </a:r>
            <a:r>
              <a:rPr lang="en-IN" dirty="0"/>
              <a:t>and ending with a </a:t>
            </a:r>
            <a:r>
              <a:rPr lang="en-IN" b="1" dirty="0"/>
              <a:t>semicolon (;), </a:t>
            </a:r>
            <a:r>
              <a:rPr lang="en-IN" dirty="0"/>
              <a:t>and the declaration groups are surrounded by </a:t>
            </a:r>
            <a:r>
              <a:rPr lang="en-IN" b="1" dirty="0"/>
              <a:t>curly braces {}.</a:t>
            </a:r>
          </a:p>
        </p:txBody>
      </p:sp>
    </p:spTree>
    <p:extLst>
      <p:ext uri="{BB962C8B-B14F-4D97-AF65-F5344CB8AC3E}">
        <p14:creationId xmlns:p14="http://schemas.microsoft.com/office/powerpoint/2010/main" val="2909399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dirty="0" smtClean="0">
                <a:solidFill>
                  <a:srgbClr val="FF0000"/>
                </a:solidFill>
              </a:rPr>
              <a:t>Important html attributes</a:t>
            </a:r>
            <a:endParaRPr lang="en-IN" dirty="0">
              <a:solidFill>
                <a:srgbClr val="FF0000"/>
              </a:solidFill>
            </a:endParaRPr>
          </a:p>
        </p:txBody>
      </p:sp>
      <p:sp>
        <p:nvSpPr>
          <p:cNvPr id="3" name="Content Placeholder 2"/>
          <p:cNvSpPr>
            <a:spLocks noGrp="1"/>
          </p:cNvSpPr>
          <p:nvPr>
            <p:ph sz="quarter" idx="1"/>
          </p:nvPr>
        </p:nvSpPr>
        <p:spPr>
          <a:xfrm>
            <a:off x="457200" y="980728"/>
            <a:ext cx="7467600" cy="4873752"/>
          </a:xfrm>
        </p:spPr>
        <p:txBody>
          <a:bodyPr/>
          <a:lstStyle/>
          <a:p>
            <a:pPr marL="0" indent="0">
              <a:buNone/>
            </a:pPr>
            <a:r>
              <a:rPr lang="en-US" dirty="0" smtClean="0">
                <a:solidFill>
                  <a:srgbClr val="0000FF"/>
                </a:solidFill>
              </a:rPr>
              <a:t>1) ID attribute:</a:t>
            </a:r>
          </a:p>
          <a:p>
            <a:pPr>
              <a:buFont typeface="Arial" panose="020B0604020202020204" pitchFamily="34" charset="0"/>
              <a:buChar char="•"/>
            </a:pPr>
            <a:r>
              <a:rPr lang="en-US" dirty="0"/>
              <a:t>The id attribute specifies a unique id for an HTML element. The value of the id attribute must be unique within the HTML document</a:t>
            </a:r>
            <a:r>
              <a:rPr lang="en-US" dirty="0" smtClean="0"/>
              <a:t>.</a:t>
            </a:r>
          </a:p>
          <a:p>
            <a:pPr>
              <a:buFont typeface="Arial" panose="020B0604020202020204" pitchFamily="34" charset="0"/>
              <a:buChar char="•"/>
            </a:pPr>
            <a:r>
              <a:rPr lang="en-US" dirty="0"/>
              <a:t>The id attribute is used to point to a specific style declaration in a style sheet. It is also used by JavaScript to access and manipulate the element with the specific id.</a:t>
            </a:r>
            <a:endParaRPr lang="en-IN" dirty="0"/>
          </a:p>
        </p:txBody>
      </p:sp>
    </p:spTree>
    <p:extLst>
      <p:ext uri="{BB962C8B-B14F-4D97-AF65-F5344CB8AC3E}">
        <p14:creationId xmlns:p14="http://schemas.microsoft.com/office/powerpoint/2010/main" val="3613623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dirty="0" smtClean="0">
                <a:solidFill>
                  <a:srgbClr val="FF0000"/>
                </a:solidFill>
              </a:rPr>
              <a:t>Important html attributes</a:t>
            </a:r>
            <a:endParaRPr lang="en-IN" dirty="0">
              <a:solidFill>
                <a:srgbClr val="FF0000"/>
              </a:solidFill>
            </a:endParaRPr>
          </a:p>
        </p:txBody>
      </p:sp>
      <p:sp>
        <p:nvSpPr>
          <p:cNvPr id="3" name="Content Placeholder 2"/>
          <p:cNvSpPr>
            <a:spLocks noGrp="1"/>
          </p:cNvSpPr>
          <p:nvPr>
            <p:ph sz="quarter" idx="1"/>
          </p:nvPr>
        </p:nvSpPr>
        <p:spPr>
          <a:xfrm>
            <a:off x="457200" y="980728"/>
            <a:ext cx="7467600" cy="4873752"/>
          </a:xfrm>
        </p:spPr>
        <p:txBody>
          <a:bodyPr/>
          <a:lstStyle/>
          <a:p>
            <a:pPr marL="0" indent="0">
              <a:buNone/>
            </a:pPr>
            <a:r>
              <a:rPr lang="en-US" dirty="0">
                <a:solidFill>
                  <a:srgbClr val="0000FF"/>
                </a:solidFill>
              </a:rPr>
              <a:t>2</a:t>
            </a:r>
            <a:r>
              <a:rPr lang="en-US" dirty="0" smtClean="0">
                <a:solidFill>
                  <a:srgbClr val="0000FF"/>
                </a:solidFill>
              </a:rPr>
              <a:t>) Class attribute:</a:t>
            </a:r>
          </a:p>
          <a:p>
            <a:r>
              <a:rPr lang="en-US" dirty="0"/>
              <a:t>The class attribute is often used to point to a class name in a style sheet. It can also be used by a JavaScript to access and manipulate elements with the specific class name</a:t>
            </a:r>
            <a:r>
              <a:rPr lang="en-US" dirty="0" smtClean="0"/>
              <a:t>.</a:t>
            </a:r>
          </a:p>
          <a:p>
            <a:r>
              <a:rPr lang="en-US" dirty="0"/>
              <a:t>Multiple HTML elements can share the same class.</a:t>
            </a:r>
          </a:p>
          <a:p>
            <a:r>
              <a:rPr lang="en-US" dirty="0" smtClean="0"/>
              <a:t> </a:t>
            </a:r>
            <a:r>
              <a:rPr lang="en-US" dirty="0"/>
              <a:t>The class attribute can be used on any HTML element.</a:t>
            </a:r>
          </a:p>
          <a:p>
            <a:r>
              <a:rPr lang="en-US" dirty="0" smtClean="0"/>
              <a:t> </a:t>
            </a:r>
            <a:r>
              <a:rPr lang="en-US" dirty="0"/>
              <a:t>The class name is case </a:t>
            </a:r>
            <a:r>
              <a:rPr lang="en-US" dirty="0" smtClean="0"/>
              <a:t>sensitive.</a:t>
            </a:r>
            <a:r>
              <a:rPr lang="en-US" dirty="0"/>
              <a:t/>
            </a:r>
            <a:br>
              <a:rPr lang="en-US" dirty="0"/>
            </a:br>
            <a:endParaRPr lang="en-US" dirty="0" smtClean="0"/>
          </a:p>
        </p:txBody>
      </p:sp>
    </p:spTree>
    <p:extLst>
      <p:ext uri="{BB962C8B-B14F-4D97-AF65-F5344CB8AC3E}">
        <p14:creationId xmlns:p14="http://schemas.microsoft.com/office/powerpoint/2010/main" val="3645127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7467600" cy="508918"/>
          </a:xfrm>
        </p:spPr>
        <p:txBody>
          <a:bodyPr>
            <a:normAutofit fontScale="90000"/>
          </a:bodyPr>
          <a:lstStyle/>
          <a:p>
            <a:r>
              <a:rPr lang="en-US" b="1" dirty="0" smtClean="0">
                <a:solidFill>
                  <a:srgbClr val="7030A0"/>
                </a:solidFill>
              </a:rPr>
              <a:t>Rules for id and class</a:t>
            </a:r>
            <a:endParaRPr lang="en-IN" b="1" dirty="0">
              <a:solidFill>
                <a:srgbClr val="7030A0"/>
              </a:solidFill>
            </a:endParaRPr>
          </a:p>
        </p:txBody>
      </p:sp>
      <p:sp>
        <p:nvSpPr>
          <p:cNvPr id="3" name="Content Placeholder 2"/>
          <p:cNvSpPr>
            <a:spLocks noGrp="1"/>
          </p:cNvSpPr>
          <p:nvPr>
            <p:ph sz="quarter" idx="1"/>
          </p:nvPr>
        </p:nvSpPr>
        <p:spPr>
          <a:xfrm>
            <a:off x="611560" y="980728"/>
            <a:ext cx="7560840" cy="5544616"/>
          </a:xfrm>
        </p:spPr>
        <p:txBody>
          <a:bodyPr>
            <a:normAutofit/>
          </a:bodyPr>
          <a:lstStyle/>
          <a:p>
            <a:pPr marL="457200" indent="-457200">
              <a:buAutoNum type="arabicParenR"/>
            </a:pPr>
            <a:r>
              <a:rPr lang="en-US" b="1" i="1" dirty="0" smtClean="0"/>
              <a:t>We can not use </a:t>
            </a:r>
            <a:r>
              <a:rPr lang="en-US" b="1" i="1" dirty="0" smtClean="0">
                <a:solidFill>
                  <a:srgbClr val="FF0000"/>
                </a:solidFill>
              </a:rPr>
              <a:t>multiple ID attribute</a:t>
            </a:r>
            <a:r>
              <a:rPr lang="en-US" b="1" i="1" dirty="0" smtClean="0"/>
              <a:t> in one element.</a:t>
            </a:r>
          </a:p>
          <a:p>
            <a:pPr marL="457200" indent="-457200">
              <a:buAutoNum type="arabicParenR"/>
            </a:pPr>
            <a:r>
              <a:rPr lang="en-US" b="1" i="1" dirty="0" smtClean="0"/>
              <a:t>We can use </a:t>
            </a:r>
            <a:r>
              <a:rPr lang="en-US" b="1" i="1" dirty="0" smtClean="0">
                <a:solidFill>
                  <a:srgbClr val="FF0000"/>
                </a:solidFill>
              </a:rPr>
              <a:t>ID attribute only once</a:t>
            </a:r>
            <a:r>
              <a:rPr lang="en-US" b="1" i="1" dirty="0" smtClean="0"/>
              <a:t> in any HTML page.</a:t>
            </a:r>
          </a:p>
          <a:p>
            <a:pPr marL="457200" indent="-457200">
              <a:buAutoNum type="arabicParenR"/>
            </a:pPr>
            <a:r>
              <a:rPr lang="en-US" b="1" i="1" dirty="0" smtClean="0">
                <a:solidFill>
                  <a:srgbClr val="FF0000"/>
                </a:solidFill>
              </a:rPr>
              <a:t>ID</a:t>
            </a:r>
            <a:r>
              <a:rPr lang="en-US" b="1" i="1" dirty="0" smtClean="0"/>
              <a:t> gets </a:t>
            </a:r>
            <a:r>
              <a:rPr lang="en-US" b="1" i="1" dirty="0" smtClean="0">
                <a:solidFill>
                  <a:srgbClr val="FF0000"/>
                </a:solidFill>
              </a:rPr>
              <a:t>higher priority </a:t>
            </a:r>
            <a:r>
              <a:rPr lang="en-US" b="1" i="1" dirty="0" smtClean="0"/>
              <a:t>than </a:t>
            </a:r>
            <a:r>
              <a:rPr lang="en-US" b="1" i="1" dirty="0" smtClean="0">
                <a:solidFill>
                  <a:srgbClr val="FF0000"/>
                </a:solidFill>
              </a:rPr>
              <a:t>class</a:t>
            </a:r>
            <a:r>
              <a:rPr lang="en-US" b="1" i="1" dirty="0" smtClean="0"/>
              <a:t> in CSS.</a:t>
            </a:r>
          </a:p>
          <a:p>
            <a:pPr marL="457200" indent="-457200">
              <a:buAutoNum type="arabicParenR"/>
            </a:pPr>
            <a:r>
              <a:rPr lang="en-US" b="1" i="1" dirty="0" smtClean="0"/>
              <a:t>We can use more than one </a:t>
            </a:r>
            <a:r>
              <a:rPr lang="en-US" b="1" i="1" dirty="0" smtClean="0">
                <a:solidFill>
                  <a:srgbClr val="FF0000"/>
                </a:solidFill>
              </a:rPr>
              <a:t>class attribute</a:t>
            </a:r>
            <a:r>
              <a:rPr lang="en-US" b="1" i="1" dirty="0" smtClean="0"/>
              <a:t> in one HTML page.</a:t>
            </a:r>
          </a:p>
          <a:p>
            <a:pPr marL="457200" indent="-457200">
              <a:buAutoNum type="arabicParenR"/>
            </a:pPr>
            <a:r>
              <a:rPr lang="en-US" b="1" i="1" dirty="0" smtClean="0"/>
              <a:t>We can use </a:t>
            </a:r>
            <a:r>
              <a:rPr lang="en-US" b="1" i="1" dirty="0" smtClean="0">
                <a:solidFill>
                  <a:srgbClr val="FF0000"/>
                </a:solidFill>
              </a:rPr>
              <a:t>more than one class attribute </a:t>
            </a:r>
            <a:r>
              <a:rPr lang="en-US" b="1" i="1" dirty="0" smtClean="0"/>
              <a:t>in one element.</a:t>
            </a:r>
          </a:p>
          <a:p>
            <a:pPr marL="0" indent="0">
              <a:buNone/>
            </a:pPr>
            <a:endParaRPr lang="en-US" b="1" i="1" dirty="0" smtClean="0"/>
          </a:p>
          <a:p>
            <a:pPr marL="0" indent="0">
              <a:buNone/>
            </a:pPr>
            <a:r>
              <a:rPr lang="en-US" b="1" i="1" dirty="0" smtClean="0">
                <a:solidFill>
                  <a:srgbClr val="0000FF"/>
                </a:solidFill>
              </a:rPr>
              <a:t>Example:</a:t>
            </a:r>
          </a:p>
          <a:p>
            <a:pPr marL="0" indent="0">
              <a:buNone/>
            </a:pPr>
            <a:r>
              <a:rPr lang="en-US" b="1" i="1" dirty="0" smtClean="0"/>
              <a:t>&lt;p class=“</a:t>
            </a:r>
            <a:r>
              <a:rPr lang="en-US" b="1" i="1" dirty="0" smtClean="0">
                <a:solidFill>
                  <a:srgbClr val="0000FF"/>
                </a:solidFill>
              </a:rPr>
              <a:t>c1 c2</a:t>
            </a:r>
            <a:r>
              <a:rPr lang="en-US" b="1" i="1" dirty="0" smtClean="0"/>
              <a:t>”&gt;This is class example&lt;/p&gt;</a:t>
            </a:r>
            <a:endParaRPr lang="en-IN" dirty="0"/>
          </a:p>
        </p:txBody>
      </p:sp>
    </p:spTree>
    <p:extLst>
      <p:ext uri="{BB962C8B-B14F-4D97-AF65-F5344CB8AC3E}">
        <p14:creationId xmlns:p14="http://schemas.microsoft.com/office/powerpoint/2010/main" val="14531267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562074"/>
          </a:xfrm>
        </p:spPr>
        <p:txBody>
          <a:bodyPr/>
          <a:lstStyle/>
          <a:p>
            <a:r>
              <a:rPr lang="en-US" b="1" dirty="0" smtClean="0">
                <a:solidFill>
                  <a:srgbClr val="7030A0"/>
                </a:solidFill>
              </a:rPr>
              <a:t>Css selector</a:t>
            </a:r>
            <a:endParaRPr lang="en-IN" b="1" dirty="0">
              <a:solidFill>
                <a:srgbClr val="7030A0"/>
              </a:solidFill>
            </a:endParaRPr>
          </a:p>
        </p:txBody>
      </p:sp>
      <p:sp>
        <p:nvSpPr>
          <p:cNvPr id="3" name="Content Placeholder 2"/>
          <p:cNvSpPr>
            <a:spLocks noGrp="1"/>
          </p:cNvSpPr>
          <p:nvPr>
            <p:ph sz="quarter" idx="1"/>
          </p:nvPr>
        </p:nvSpPr>
        <p:spPr>
          <a:xfrm>
            <a:off x="461857" y="980728"/>
            <a:ext cx="7467600" cy="1155611"/>
          </a:xfrm>
        </p:spPr>
        <p:txBody>
          <a:bodyPr>
            <a:normAutofit lnSpcReduction="10000"/>
          </a:bodyPr>
          <a:lstStyle/>
          <a:p>
            <a:r>
              <a:rPr lang="en-US" dirty="0" smtClean="0"/>
              <a:t>A selector is an HTML tag at which a style will be applied. This could be any tag like &lt;h1&gt; or &lt;table&gt; etc.</a:t>
            </a:r>
          </a:p>
          <a:p>
            <a:endParaRPr lang="en-IN" dirty="0"/>
          </a:p>
        </p:txBody>
      </p:sp>
      <p:sp>
        <p:nvSpPr>
          <p:cNvPr id="4" name="Title 1"/>
          <p:cNvSpPr txBox="1">
            <a:spLocks/>
          </p:cNvSpPr>
          <p:nvPr/>
        </p:nvSpPr>
        <p:spPr>
          <a:xfrm>
            <a:off x="539552" y="2276872"/>
            <a:ext cx="7467600" cy="562074"/>
          </a:xfrm>
          <a:prstGeom prst="rect">
            <a:avLst/>
          </a:prstGeom>
        </p:spPr>
        <p:txBody>
          <a:bodyPr vert="horz" anchor="b">
            <a:norm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r>
              <a:rPr lang="en-US" b="1" dirty="0" smtClean="0">
                <a:solidFill>
                  <a:srgbClr val="7030A0"/>
                </a:solidFill>
              </a:rPr>
              <a:t>property</a:t>
            </a:r>
            <a:endParaRPr lang="en-IN" b="1" dirty="0">
              <a:solidFill>
                <a:srgbClr val="7030A0"/>
              </a:solidFill>
            </a:endParaRPr>
          </a:p>
        </p:txBody>
      </p:sp>
      <p:sp>
        <p:nvSpPr>
          <p:cNvPr id="5" name="Rectangle 4"/>
          <p:cNvSpPr/>
          <p:nvPr/>
        </p:nvSpPr>
        <p:spPr>
          <a:xfrm>
            <a:off x="539552" y="2841685"/>
            <a:ext cx="7776864" cy="1200329"/>
          </a:xfrm>
          <a:prstGeom prst="rect">
            <a:avLst/>
          </a:prstGeom>
        </p:spPr>
        <p:txBody>
          <a:bodyPr wrap="square">
            <a:spAutoFit/>
          </a:bodyPr>
          <a:lstStyle/>
          <a:p>
            <a:r>
              <a:rPr lang="en-US" b="1" dirty="0"/>
              <a:t>Property</a:t>
            </a:r>
            <a:r>
              <a:rPr lang="en-US" dirty="0"/>
              <a:t> − A property is a type of attribute of HTML tag. Put simply, all the HTML attributes are converted into CSS properties. They could be </a:t>
            </a:r>
            <a:r>
              <a:rPr lang="en-US" i="1" dirty="0"/>
              <a:t>color</a:t>
            </a:r>
            <a:r>
              <a:rPr lang="en-US" dirty="0"/>
              <a:t>, </a:t>
            </a:r>
            <a:r>
              <a:rPr lang="en-US" i="1" dirty="0"/>
              <a:t>border</a:t>
            </a:r>
            <a:r>
              <a:rPr lang="en-US" dirty="0"/>
              <a:t> etc.</a:t>
            </a:r>
          </a:p>
          <a:p>
            <a:r>
              <a:rPr lang="en-US" dirty="0" smtClean="0"/>
              <a:t>etc</a:t>
            </a:r>
            <a:r>
              <a:rPr lang="en-US" dirty="0"/>
              <a:t>.</a:t>
            </a:r>
          </a:p>
        </p:txBody>
      </p:sp>
      <p:sp>
        <p:nvSpPr>
          <p:cNvPr id="6" name="Rectangle 5"/>
          <p:cNvSpPr/>
          <p:nvPr/>
        </p:nvSpPr>
        <p:spPr>
          <a:xfrm>
            <a:off x="539552" y="4725144"/>
            <a:ext cx="7632848" cy="923330"/>
          </a:xfrm>
          <a:prstGeom prst="rect">
            <a:avLst/>
          </a:prstGeom>
        </p:spPr>
        <p:txBody>
          <a:bodyPr wrap="square">
            <a:spAutoFit/>
          </a:bodyPr>
          <a:lstStyle/>
          <a:p>
            <a:r>
              <a:rPr lang="en-US" b="1" dirty="0" smtClean="0"/>
              <a:t>Value</a:t>
            </a:r>
            <a:r>
              <a:rPr lang="en-US" dirty="0"/>
              <a:t> − Values are assigned to properties. </a:t>
            </a:r>
            <a:endParaRPr lang="en-US" dirty="0" smtClean="0"/>
          </a:p>
          <a:p>
            <a:endParaRPr lang="en-US" dirty="0"/>
          </a:p>
          <a:p>
            <a:r>
              <a:rPr lang="en-US" dirty="0" smtClean="0"/>
              <a:t>For </a:t>
            </a:r>
            <a:r>
              <a:rPr lang="en-US" dirty="0"/>
              <a:t>example, </a:t>
            </a:r>
            <a:r>
              <a:rPr lang="en-US" i="1" dirty="0">
                <a:solidFill>
                  <a:srgbClr val="0000FF"/>
                </a:solidFill>
              </a:rPr>
              <a:t>color</a:t>
            </a:r>
            <a:r>
              <a:rPr lang="en-US" dirty="0">
                <a:solidFill>
                  <a:srgbClr val="0000FF"/>
                </a:solidFill>
              </a:rPr>
              <a:t> property </a:t>
            </a:r>
            <a:r>
              <a:rPr lang="en-US" dirty="0"/>
              <a:t>can have value either </a:t>
            </a:r>
            <a:r>
              <a:rPr lang="en-US" i="1" dirty="0" smtClean="0">
                <a:solidFill>
                  <a:srgbClr val="FF0000"/>
                </a:solidFill>
              </a:rPr>
              <a:t>red</a:t>
            </a:r>
            <a:r>
              <a:rPr lang="en-US" dirty="0"/>
              <a:t> or </a:t>
            </a:r>
            <a:r>
              <a:rPr lang="en-US" i="1" dirty="0">
                <a:solidFill>
                  <a:srgbClr val="FF0000"/>
                </a:solidFill>
              </a:rPr>
              <a:t>#F1F1F1</a:t>
            </a:r>
            <a:r>
              <a:rPr lang="en-US" dirty="0"/>
              <a:t> etc.</a:t>
            </a:r>
          </a:p>
        </p:txBody>
      </p:sp>
      <p:sp>
        <p:nvSpPr>
          <p:cNvPr id="7" name="Title 1"/>
          <p:cNvSpPr txBox="1">
            <a:spLocks/>
          </p:cNvSpPr>
          <p:nvPr/>
        </p:nvSpPr>
        <p:spPr>
          <a:xfrm>
            <a:off x="520087" y="4102542"/>
            <a:ext cx="7467600" cy="562074"/>
          </a:xfrm>
          <a:prstGeom prst="rect">
            <a:avLst/>
          </a:prstGeom>
        </p:spPr>
        <p:txBody>
          <a:bodyPr vert="horz" anchor="b">
            <a:norm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r>
              <a:rPr lang="en-US" b="1" dirty="0" smtClean="0">
                <a:solidFill>
                  <a:srgbClr val="7030A0"/>
                </a:solidFill>
              </a:rPr>
              <a:t>value</a:t>
            </a:r>
            <a:endParaRPr lang="en-IN" b="1" dirty="0">
              <a:solidFill>
                <a:srgbClr val="7030A0"/>
              </a:solidFill>
            </a:endParaRPr>
          </a:p>
        </p:txBody>
      </p:sp>
    </p:spTree>
    <p:extLst>
      <p:ext uri="{BB962C8B-B14F-4D97-AF65-F5344CB8AC3E}">
        <p14:creationId xmlns:p14="http://schemas.microsoft.com/office/powerpoint/2010/main" val="349283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7467600" cy="508918"/>
          </a:xfrm>
        </p:spPr>
        <p:txBody>
          <a:bodyPr>
            <a:normAutofit fontScale="90000"/>
          </a:bodyPr>
          <a:lstStyle/>
          <a:p>
            <a:r>
              <a:rPr lang="en-US" b="1" dirty="0" smtClean="0">
                <a:solidFill>
                  <a:srgbClr val="7030A0"/>
                </a:solidFill>
              </a:rPr>
              <a:t>Types of </a:t>
            </a:r>
            <a:r>
              <a:rPr lang="en-US" b="1" dirty="0" err="1" smtClean="0">
                <a:solidFill>
                  <a:srgbClr val="7030A0"/>
                </a:solidFill>
              </a:rPr>
              <a:t>css</a:t>
            </a:r>
            <a:r>
              <a:rPr lang="en-US" b="1" dirty="0" smtClean="0">
                <a:solidFill>
                  <a:srgbClr val="7030A0"/>
                </a:solidFill>
              </a:rPr>
              <a:t> selector</a:t>
            </a:r>
            <a:endParaRPr lang="en-IN" b="1" dirty="0">
              <a:solidFill>
                <a:srgbClr val="7030A0"/>
              </a:solidFill>
            </a:endParaRPr>
          </a:p>
        </p:txBody>
      </p:sp>
      <p:sp>
        <p:nvSpPr>
          <p:cNvPr id="3" name="Content Placeholder 2"/>
          <p:cNvSpPr>
            <a:spLocks noGrp="1"/>
          </p:cNvSpPr>
          <p:nvPr>
            <p:ph sz="quarter" idx="1"/>
          </p:nvPr>
        </p:nvSpPr>
        <p:spPr>
          <a:xfrm>
            <a:off x="611560" y="980728"/>
            <a:ext cx="7467600" cy="5328592"/>
          </a:xfrm>
        </p:spPr>
        <p:txBody>
          <a:bodyPr/>
          <a:lstStyle/>
          <a:p>
            <a:pPr marL="0" indent="0">
              <a:buNone/>
            </a:pPr>
            <a:r>
              <a:rPr lang="en-US" b="1" i="1" dirty="0" smtClean="0">
                <a:solidFill>
                  <a:srgbClr val="0000FF"/>
                </a:solidFill>
              </a:rPr>
              <a:t>1) Element Selector</a:t>
            </a:r>
          </a:p>
          <a:p>
            <a:pPr marL="0" indent="0">
              <a:buNone/>
            </a:pPr>
            <a:r>
              <a:rPr lang="en-US" dirty="0" smtClean="0"/>
              <a:t>The </a:t>
            </a:r>
            <a:r>
              <a:rPr lang="en-US" dirty="0"/>
              <a:t>element selector selects HTML elements based on the element name</a:t>
            </a:r>
            <a:r>
              <a:rPr lang="en-US" dirty="0" smtClean="0"/>
              <a:t>.(</a:t>
            </a:r>
            <a:r>
              <a:rPr lang="en-US" dirty="0" smtClean="0">
                <a:solidFill>
                  <a:srgbClr val="FF0000"/>
                </a:solidFill>
              </a:rPr>
              <a:t>Any HTML Tag</a:t>
            </a:r>
            <a:r>
              <a:rPr lang="en-US" dirty="0" smtClean="0"/>
              <a:t>).</a:t>
            </a:r>
          </a:p>
          <a:p>
            <a:pPr marL="0" indent="0">
              <a:buNone/>
            </a:pPr>
            <a:endParaRPr lang="en-US" dirty="0" smtClean="0"/>
          </a:p>
          <a:p>
            <a:pPr marL="0" indent="0">
              <a:buNone/>
            </a:pPr>
            <a:r>
              <a:rPr lang="en-US" b="1" i="1" u="sng" dirty="0" smtClean="0">
                <a:solidFill>
                  <a:srgbClr val="FF0000"/>
                </a:solidFill>
              </a:rPr>
              <a:t>Syntax:</a:t>
            </a:r>
          </a:p>
          <a:p>
            <a:pPr marL="0" indent="0">
              <a:buNone/>
            </a:pPr>
            <a:r>
              <a:rPr lang="en-US" dirty="0" smtClean="0"/>
              <a:t>Element name</a:t>
            </a:r>
          </a:p>
          <a:p>
            <a:pPr marL="0" indent="0">
              <a:buNone/>
            </a:pPr>
            <a:r>
              <a:rPr lang="en-US" dirty="0" smtClean="0"/>
              <a:t>{</a:t>
            </a:r>
          </a:p>
          <a:p>
            <a:pPr marL="0" indent="0">
              <a:buNone/>
            </a:pPr>
            <a:r>
              <a:rPr lang="en-US" dirty="0"/>
              <a:t>	</a:t>
            </a:r>
            <a:r>
              <a:rPr lang="en-US" dirty="0" smtClean="0"/>
              <a:t>property </a:t>
            </a:r>
            <a:r>
              <a:rPr lang="en-US" dirty="0" err="1" smtClean="0"/>
              <a:t>name:value</a:t>
            </a:r>
            <a:r>
              <a:rPr lang="en-US" dirty="0" smtClean="0"/>
              <a:t>;</a:t>
            </a:r>
          </a:p>
          <a:p>
            <a:pPr marL="0" indent="0">
              <a:buNone/>
            </a:pPr>
            <a:r>
              <a:rPr lang="en-US" dirty="0"/>
              <a:t>}</a:t>
            </a:r>
            <a:endParaRPr lang="en-IN" dirty="0"/>
          </a:p>
        </p:txBody>
      </p:sp>
    </p:spTree>
    <p:extLst>
      <p:ext uri="{BB962C8B-B14F-4D97-AF65-F5344CB8AC3E}">
        <p14:creationId xmlns:p14="http://schemas.microsoft.com/office/powerpoint/2010/main" val="24916069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pic>
        <p:nvPicPr>
          <p:cNvPr id="3" name="Picture 2"/>
          <p:cNvPicPr>
            <a:picLocks noChangeAspect="1"/>
          </p:cNvPicPr>
          <p:nvPr/>
        </p:nvPicPr>
        <p:blipFill>
          <a:blip r:embed="rId2"/>
          <a:stretch>
            <a:fillRect/>
          </a:stretch>
        </p:blipFill>
        <p:spPr>
          <a:xfrm>
            <a:off x="457200" y="1340768"/>
            <a:ext cx="7414887" cy="5299196"/>
          </a:xfrm>
          <a:prstGeom prst="rect">
            <a:avLst/>
          </a:prstGeom>
        </p:spPr>
      </p:pic>
    </p:spTree>
    <p:extLst>
      <p:ext uri="{BB962C8B-B14F-4D97-AF65-F5344CB8AC3E}">
        <p14:creationId xmlns:p14="http://schemas.microsoft.com/office/powerpoint/2010/main" val="2358375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7" name="TextBox 6"/>
          <p:cNvSpPr txBox="1"/>
          <p:nvPr/>
        </p:nvSpPr>
        <p:spPr>
          <a:xfrm>
            <a:off x="477455" y="908720"/>
            <a:ext cx="1306488" cy="400110"/>
          </a:xfrm>
          <a:prstGeom prst="rect">
            <a:avLst/>
          </a:prstGeom>
          <a:noFill/>
        </p:spPr>
        <p:txBody>
          <a:bodyPr wrap="square" rtlCol="0">
            <a:spAutoFit/>
          </a:bodyPr>
          <a:lstStyle/>
          <a:p>
            <a:r>
              <a:rPr lang="en-US" sz="2000" b="1" u="sng" dirty="0" smtClean="0">
                <a:solidFill>
                  <a:srgbClr val="FF0066"/>
                </a:solidFill>
              </a:rPr>
              <a:t>Output:</a:t>
            </a:r>
            <a:endParaRPr lang="en-US" dirty="0">
              <a:solidFill>
                <a:srgbClr val="FF0066"/>
              </a:solidFill>
            </a:endParaRPr>
          </a:p>
        </p:txBody>
      </p:sp>
      <p:pic>
        <p:nvPicPr>
          <p:cNvPr id="4" name="Picture 3"/>
          <p:cNvPicPr>
            <a:picLocks noChangeAspect="1"/>
          </p:cNvPicPr>
          <p:nvPr/>
        </p:nvPicPr>
        <p:blipFill>
          <a:blip r:embed="rId2"/>
          <a:stretch>
            <a:fillRect/>
          </a:stretch>
        </p:blipFill>
        <p:spPr>
          <a:xfrm>
            <a:off x="508752" y="1452846"/>
            <a:ext cx="5071360" cy="3249864"/>
          </a:xfrm>
          <a:prstGeom prst="rect">
            <a:avLst/>
          </a:prstGeom>
        </p:spPr>
      </p:pic>
    </p:spTree>
    <p:extLst>
      <p:ext uri="{BB962C8B-B14F-4D97-AF65-F5344CB8AC3E}">
        <p14:creationId xmlns:p14="http://schemas.microsoft.com/office/powerpoint/2010/main" val="870844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7467600" cy="508918"/>
          </a:xfrm>
        </p:spPr>
        <p:txBody>
          <a:bodyPr>
            <a:normAutofit fontScale="90000"/>
          </a:bodyPr>
          <a:lstStyle/>
          <a:p>
            <a:r>
              <a:rPr lang="en-US" b="1" dirty="0" smtClean="0">
                <a:solidFill>
                  <a:srgbClr val="7030A0"/>
                </a:solidFill>
              </a:rPr>
              <a:t>Types of </a:t>
            </a:r>
            <a:r>
              <a:rPr lang="en-US" b="1" dirty="0" err="1" smtClean="0">
                <a:solidFill>
                  <a:srgbClr val="7030A0"/>
                </a:solidFill>
              </a:rPr>
              <a:t>css</a:t>
            </a:r>
            <a:r>
              <a:rPr lang="en-US" b="1" dirty="0" smtClean="0">
                <a:solidFill>
                  <a:srgbClr val="7030A0"/>
                </a:solidFill>
              </a:rPr>
              <a:t> selector</a:t>
            </a:r>
            <a:endParaRPr lang="en-IN" b="1" dirty="0">
              <a:solidFill>
                <a:srgbClr val="7030A0"/>
              </a:solidFill>
            </a:endParaRPr>
          </a:p>
        </p:txBody>
      </p:sp>
      <p:sp>
        <p:nvSpPr>
          <p:cNvPr id="3" name="Content Placeholder 2"/>
          <p:cNvSpPr>
            <a:spLocks noGrp="1"/>
          </p:cNvSpPr>
          <p:nvPr>
            <p:ph sz="quarter" idx="1"/>
          </p:nvPr>
        </p:nvSpPr>
        <p:spPr>
          <a:xfrm>
            <a:off x="611560" y="980728"/>
            <a:ext cx="7467600" cy="5328592"/>
          </a:xfrm>
        </p:spPr>
        <p:txBody>
          <a:bodyPr>
            <a:normAutofit lnSpcReduction="10000"/>
          </a:bodyPr>
          <a:lstStyle/>
          <a:p>
            <a:pPr marL="0" indent="0">
              <a:buNone/>
            </a:pPr>
            <a:r>
              <a:rPr lang="en-US" b="1" i="1" dirty="0" smtClean="0">
                <a:solidFill>
                  <a:srgbClr val="0000FF"/>
                </a:solidFill>
              </a:rPr>
              <a:t>2) Universal Selector</a:t>
            </a:r>
          </a:p>
          <a:p>
            <a:pPr>
              <a:buFont typeface="Arial" panose="020B0604020202020204" pitchFamily="34" charset="0"/>
              <a:buChar char="•"/>
            </a:pPr>
            <a:r>
              <a:rPr lang="en-US" dirty="0"/>
              <a:t>The universal selector </a:t>
            </a:r>
            <a:r>
              <a:rPr lang="en-US" dirty="0" smtClean="0">
                <a:solidFill>
                  <a:srgbClr val="FF0000"/>
                </a:solidFill>
              </a:rPr>
              <a:t>selects </a:t>
            </a:r>
            <a:r>
              <a:rPr lang="en-US" dirty="0">
                <a:solidFill>
                  <a:srgbClr val="FF0000"/>
                </a:solidFill>
              </a:rPr>
              <a:t>all HTML elements </a:t>
            </a:r>
            <a:r>
              <a:rPr lang="en-US" dirty="0"/>
              <a:t>on the page</a:t>
            </a:r>
            <a:r>
              <a:rPr lang="en-US" dirty="0" smtClean="0"/>
              <a:t>.</a:t>
            </a:r>
          </a:p>
          <a:p>
            <a:pPr>
              <a:buFont typeface="Arial" panose="020B0604020202020204" pitchFamily="34" charset="0"/>
              <a:buChar char="•"/>
            </a:pPr>
            <a:r>
              <a:rPr lang="en-US" dirty="0"/>
              <a:t>The universal selector, denoted by an </a:t>
            </a:r>
            <a:r>
              <a:rPr lang="en-US" dirty="0">
                <a:solidFill>
                  <a:srgbClr val="FF0000"/>
                </a:solidFill>
              </a:rPr>
              <a:t>asterisk </a:t>
            </a:r>
            <a:r>
              <a:rPr lang="en-US" dirty="0" smtClean="0">
                <a:solidFill>
                  <a:srgbClr val="FF0000"/>
                </a:solidFill>
              </a:rPr>
              <a:t>(*) </a:t>
            </a:r>
            <a:r>
              <a:rPr lang="en-US" dirty="0" smtClean="0"/>
              <a:t>Sign.</a:t>
            </a:r>
          </a:p>
          <a:p>
            <a:pPr>
              <a:buFont typeface="Arial" panose="020B0604020202020204" pitchFamily="34" charset="0"/>
              <a:buChar char="•"/>
            </a:pPr>
            <a:r>
              <a:rPr lang="en-US" dirty="0"/>
              <a:t>Rather than selecting elements of a specific type, the universal selector quite simply matches the name of any element type </a:t>
            </a:r>
            <a:r>
              <a:rPr lang="en-US" dirty="0" smtClean="0"/>
              <a:t>.</a:t>
            </a:r>
          </a:p>
          <a:p>
            <a:pPr marL="0" indent="0">
              <a:buNone/>
            </a:pPr>
            <a:r>
              <a:rPr lang="en-US" b="1" i="1" u="sng" dirty="0" smtClean="0">
                <a:solidFill>
                  <a:srgbClr val="FF0000"/>
                </a:solidFill>
              </a:rPr>
              <a:t>Syntax:</a:t>
            </a:r>
          </a:p>
          <a:p>
            <a:pPr marL="0" indent="0">
              <a:buNone/>
            </a:pPr>
            <a:r>
              <a:rPr lang="en-US" dirty="0" smtClean="0"/>
              <a:t>*</a:t>
            </a:r>
          </a:p>
          <a:p>
            <a:pPr marL="0" indent="0">
              <a:buNone/>
            </a:pPr>
            <a:r>
              <a:rPr lang="en-US" dirty="0" smtClean="0"/>
              <a:t>{</a:t>
            </a:r>
          </a:p>
          <a:p>
            <a:pPr marL="0" indent="0">
              <a:buNone/>
            </a:pPr>
            <a:r>
              <a:rPr lang="en-US" dirty="0"/>
              <a:t>	</a:t>
            </a:r>
            <a:r>
              <a:rPr lang="en-US" dirty="0" smtClean="0"/>
              <a:t>property </a:t>
            </a:r>
            <a:r>
              <a:rPr lang="en-US" dirty="0" err="1" smtClean="0"/>
              <a:t>name:value</a:t>
            </a:r>
            <a:r>
              <a:rPr lang="en-US" dirty="0" smtClean="0"/>
              <a:t>;</a:t>
            </a:r>
          </a:p>
          <a:p>
            <a:pPr marL="0" indent="0">
              <a:buNone/>
            </a:pPr>
            <a:r>
              <a:rPr lang="en-US" dirty="0"/>
              <a:t>}</a:t>
            </a:r>
            <a:endParaRPr lang="en-IN" dirty="0"/>
          </a:p>
        </p:txBody>
      </p:sp>
    </p:spTree>
    <p:extLst>
      <p:ext uri="{BB962C8B-B14F-4D97-AF65-F5344CB8AC3E}">
        <p14:creationId xmlns:p14="http://schemas.microsoft.com/office/powerpoint/2010/main" val="4066307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pic>
        <p:nvPicPr>
          <p:cNvPr id="4" name="Picture 3"/>
          <p:cNvPicPr>
            <a:picLocks noChangeAspect="1"/>
          </p:cNvPicPr>
          <p:nvPr/>
        </p:nvPicPr>
        <p:blipFill>
          <a:blip r:embed="rId2"/>
          <a:stretch>
            <a:fillRect/>
          </a:stretch>
        </p:blipFill>
        <p:spPr>
          <a:xfrm>
            <a:off x="539552" y="1192949"/>
            <a:ext cx="5671555" cy="5410520"/>
          </a:xfrm>
          <a:prstGeom prst="rect">
            <a:avLst/>
          </a:prstGeom>
        </p:spPr>
      </p:pic>
    </p:spTree>
    <p:extLst>
      <p:ext uri="{BB962C8B-B14F-4D97-AF65-F5344CB8AC3E}">
        <p14:creationId xmlns:p14="http://schemas.microsoft.com/office/powerpoint/2010/main" val="1647024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7" name="TextBox 6"/>
          <p:cNvSpPr txBox="1"/>
          <p:nvPr/>
        </p:nvSpPr>
        <p:spPr>
          <a:xfrm>
            <a:off x="477455" y="908720"/>
            <a:ext cx="1306488" cy="400110"/>
          </a:xfrm>
          <a:prstGeom prst="rect">
            <a:avLst/>
          </a:prstGeom>
          <a:noFill/>
        </p:spPr>
        <p:txBody>
          <a:bodyPr wrap="square" rtlCol="0">
            <a:spAutoFit/>
          </a:bodyPr>
          <a:lstStyle/>
          <a:p>
            <a:r>
              <a:rPr lang="en-US" sz="2000" b="1" u="sng" dirty="0" smtClean="0">
                <a:solidFill>
                  <a:srgbClr val="FF0066"/>
                </a:solidFill>
              </a:rPr>
              <a:t>Output:</a:t>
            </a:r>
            <a:endParaRPr lang="en-US" dirty="0">
              <a:solidFill>
                <a:srgbClr val="FF0066"/>
              </a:solidFill>
            </a:endParaRPr>
          </a:p>
        </p:txBody>
      </p:sp>
      <p:pic>
        <p:nvPicPr>
          <p:cNvPr id="3" name="Picture 2"/>
          <p:cNvPicPr>
            <a:picLocks noChangeAspect="1"/>
          </p:cNvPicPr>
          <p:nvPr/>
        </p:nvPicPr>
        <p:blipFill>
          <a:blip r:embed="rId2"/>
          <a:stretch>
            <a:fillRect/>
          </a:stretch>
        </p:blipFill>
        <p:spPr>
          <a:xfrm>
            <a:off x="457201" y="1452847"/>
            <a:ext cx="6779096" cy="3883660"/>
          </a:xfrm>
          <a:prstGeom prst="rect">
            <a:avLst/>
          </a:prstGeom>
        </p:spPr>
      </p:pic>
    </p:spTree>
    <p:extLst>
      <p:ext uri="{BB962C8B-B14F-4D97-AF65-F5344CB8AC3E}">
        <p14:creationId xmlns:p14="http://schemas.microsoft.com/office/powerpoint/2010/main" val="1757340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7467600" cy="508918"/>
          </a:xfrm>
        </p:spPr>
        <p:txBody>
          <a:bodyPr>
            <a:normAutofit fontScale="90000"/>
          </a:bodyPr>
          <a:lstStyle/>
          <a:p>
            <a:r>
              <a:rPr lang="en-US" b="1" dirty="0" smtClean="0">
                <a:solidFill>
                  <a:srgbClr val="7030A0"/>
                </a:solidFill>
              </a:rPr>
              <a:t>Types of </a:t>
            </a:r>
            <a:r>
              <a:rPr lang="en-US" b="1" dirty="0" err="1" smtClean="0">
                <a:solidFill>
                  <a:srgbClr val="7030A0"/>
                </a:solidFill>
              </a:rPr>
              <a:t>css</a:t>
            </a:r>
            <a:r>
              <a:rPr lang="en-US" b="1" dirty="0" smtClean="0">
                <a:solidFill>
                  <a:srgbClr val="7030A0"/>
                </a:solidFill>
              </a:rPr>
              <a:t> selector</a:t>
            </a:r>
            <a:endParaRPr lang="en-IN" b="1" dirty="0">
              <a:solidFill>
                <a:srgbClr val="7030A0"/>
              </a:solidFill>
            </a:endParaRPr>
          </a:p>
        </p:txBody>
      </p:sp>
      <p:sp>
        <p:nvSpPr>
          <p:cNvPr id="3" name="Content Placeholder 2"/>
          <p:cNvSpPr>
            <a:spLocks noGrp="1"/>
          </p:cNvSpPr>
          <p:nvPr>
            <p:ph sz="quarter" idx="1"/>
          </p:nvPr>
        </p:nvSpPr>
        <p:spPr>
          <a:xfrm>
            <a:off x="611560" y="980728"/>
            <a:ext cx="7560840" cy="5544616"/>
          </a:xfrm>
        </p:spPr>
        <p:txBody>
          <a:bodyPr>
            <a:normAutofit fontScale="85000" lnSpcReduction="20000"/>
          </a:bodyPr>
          <a:lstStyle/>
          <a:p>
            <a:pPr marL="0" indent="0">
              <a:buNone/>
            </a:pPr>
            <a:r>
              <a:rPr lang="en-US" b="1" i="1" dirty="0">
                <a:solidFill>
                  <a:srgbClr val="0000FF"/>
                </a:solidFill>
              </a:rPr>
              <a:t>3</a:t>
            </a:r>
            <a:r>
              <a:rPr lang="en-US" b="1" i="1" dirty="0" smtClean="0">
                <a:solidFill>
                  <a:srgbClr val="0000FF"/>
                </a:solidFill>
              </a:rPr>
              <a:t>) ID Selector</a:t>
            </a:r>
          </a:p>
          <a:p>
            <a:pPr>
              <a:buFont typeface="Arial" panose="020B0604020202020204" pitchFamily="34" charset="0"/>
              <a:buChar char="•"/>
            </a:pPr>
            <a:r>
              <a:rPr lang="en-US" dirty="0"/>
              <a:t>The id selector is used to define style rules for a </a:t>
            </a:r>
            <a:r>
              <a:rPr lang="en-US" i="1" dirty="0"/>
              <a:t>single</a:t>
            </a:r>
            <a:r>
              <a:rPr lang="en-US" dirty="0"/>
              <a:t> or </a:t>
            </a:r>
            <a:r>
              <a:rPr lang="en-US" i="1" dirty="0"/>
              <a:t>unique</a:t>
            </a:r>
            <a:r>
              <a:rPr lang="en-US" dirty="0"/>
              <a:t> element</a:t>
            </a:r>
            <a:r>
              <a:rPr lang="en-US" dirty="0" smtClean="0"/>
              <a:t>.</a:t>
            </a:r>
          </a:p>
          <a:p>
            <a:pPr>
              <a:buFont typeface="Arial" panose="020B0604020202020204" pitchFamily="34" charset="0"/>
              <a:buChar char="•"/>
            </a:pPr>
            <a:r>
              <a:rPr lang="en-US" dirty="0" smtClean="0"/>
              <a:t>The ID </a:t>
            </a:r>
            <a:r>
              <a:rPr lang="en-US" dirty="0"/>
              <a:t>selector, denoted by an </a:t>
            </a:r>
            <a:r>
              <a:rPr lang="en-US" dirty="0" smtClean="0">
                <a:solidFill>
                  <a:srgbClr val="FF0000"/>
                </a:solidFill>
              </a:rPr>
              <a:t>Hash (#) Sign</a:t>
            </a:r>
            <a:r>
              <a:rPr lang="en-US" dirty="0" smtClean="0"/>
              <a:t>.</a:t>
            </a:r>
          </a:p>
          <a:p>
            <a:pPr>
              <a:buFont typeface="Arial" panose="020B0604020202020204" pitchFamily="34" charset="0"/>
              <a:buChar char="•"/>
            </a:pPr>
            <a:r>
              <a:rPr lang="en-US" dirty="0"/>
              <a:t>The value of an id attribute must be unique within a given document — meaning no two elements in your HTML document can share the same id value</a:t>
            </a:r>
            <a:r>
              <a:rPr lang="en-US" dirty="0" smtClean="0"/>
              <a:t>.</a:t>
            </a:r>
          </a:p>
          <a:p>
            <a:pPr marL="0" indent="0">
              <a:buNone/>
            </a:pPr>
            <a:endParaRPr lang="en-US" sz="1400" b="1" i="1" u="sng" dirty="0" smtClean="0">
              <a:solidFill>
                <a:srgbClr val="FF0000"/>
              </a:solidFill>
            </a:endParaRPr>
          </a:p>
          <a:p>
            <a:pPr marL="0" indent="0">
              <a:buNone/>
            </a:pPr>
            <a:r>
              <a:rPr lang="en-US" b="1" i="1" u="sng" dirty="0" smtClean="0">
                <a:solidFill>
                  <a:srgbClr val="FF0000"/>
                </a:solidFill>
              </a:rPr>
              <a:t>Syntax:</a:t>
            </a:r>
          </a:p>
          <a:p>
            <a:pPr marL="0" indent="0">
              <a:buNone/>
            </a:pPr>
            <a:r>
              <a:rPr lang="en-US" dirty="0" smtClean="0"/>
              <a:t>#Element’s ID name</a:t>
            </a:r>
          </a:p>
          <a:p>
            <a:pPr marL="0" indent="0">
              <a:buNone/>
            </a:pPr>
            <a:r>
              <a:rPr lang="en-US" dirty="0" smtClean="0"/>
              <a:t>{</a:t>
            </a:r>
          </a:p>
          <a:p>
            <a:pPr marL="0" indent="0">
              <a:buNone/>
            </a:pPr>
            <a:r>
              <a:rPr lang="en-US" dirty="0"/>
              <a:t>	</a:t>
            </a:r>
            <a:r>
              <a:rPr lang="en-US" dirty="0" smtClean="0"/>
              <a:t>property </a:t>
            </a:r>
            <a:r>
              <a:rPr lang="en-US" dirty="0" err="1" smtClean="0"/>
              <a:t>name:value</a:t>
            </a:r>
            <a:r>
              <a:rPr lang="en-US" dirty="0" smtClean="0"/>
              <a:t>;</a:t>
            </a:r>
          </a:p>
          <a:p>
            <a:pPr marL="0" indent="0">
              <a:buNone/>
            </a:pPr>
            <a:r>
              <a:rPr lang="en-US" dirty="0" smtClean="0"/>
              <a:t>}</a:t>
            </a:r>
          </a:p>
          <a:p>
            <a:pPr marL="0" indent="0">
              <a:buNone/>
            </a:pPr>
            <a:endParaRPr lang="en-US" sz="1300" dirty="0" smtClean="0"/>
          </a:p>
          <a:p>
            <a:pPr marL="0" indent="0">
              <a:buNone/>
            </a:pPr>
            <a:r>
              <a:rPr lang="en-US" b="1" i="1" u="sng" dirty="0">
                <a:solidFill>
                  <a:srgbClr val="FF0000"/>
                </a:solidFill>
              </a:rPr>
              <a:t>Note:</a:t>
            </a:r>
            <a:r>
              <a:rPr lang="en-US" i="1" u="sng" dirty="0">
                <a:solidFill>
                  <a:srgbClr val="FF0000"/>
                </a:solidFill>
              </a:rPr>
              <a:t> </a:t>
            </a:r>
            <a:endParaRPr lang="en-US" i="1" u="sng" dirty="0" smtClean="0">
              <a:solidFill>
                <a:srgbClr val="FF0000"/>
              </a:solidFill>
            </a:endParaRPr>
          </a:p>
          <a:p>
            <a:pPr lvl="1"/>
            <a:r>
              <a:rPr lang="en-US" dirty="0" smtClean="0"/>
              <a:t>The </a:t>
            </a:r>
            <a:r>
              <a:rPr lang="en-US" dirty="0"/>
              <a:t>id name is case sensitive!</a:t>
            </a:r>
          </a:p>
          <a:p>
            <a:pPr lvl="1"/>
            <a:r>
              <a:rPr lang="en-US" dirty="0" smtClean="0"/>
              <a:t>The </a:t>
            </a:r>
            <a:r>
              <a:rPr lang="en-US" dirty="0"/>
              <a:t>id name must contain at least one character, cannot start with a number, and must not contain whitespaces (spaces, tabs, etc.).</a:t>
            </a:r>
          </a:p>
          <a:p>
            <a:pPr marL="0" indent="0">
              <a:buNone/>
            </a:pPr>
            <a:endParaRPr lang="en-IN" dirty="0"/>
          </a:p>
        </p:txBody>
      </p:sp>
    </p:spTree>
    <p:extLst>
      <p:ext uri="{BB962C8B-B14F-4D97-AF65-F5344CB8AC3E}">
        <p14:creationId xmlns:p14="http://schemas.microsoft.com/office/powerpoint/2010/main" val="4281488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pic>
        <p:nvPicPr>
          <p:cNvPr id="3" name="Picture 2"/>
          <p:cNvPicPr>
            <a:picLocks noChangeAspect="1"/>
          </p:cNvPicPr>
          <p:nvPr/>
        </p:nvPicPr>
        <p:blipFill>
          <a:blip r:embed="rId2"/>
          <a:stretch>
            <a:fillRect/>
          </a:stretch>
        </p:blipFill>
        <p:spPr>
          <a:xfrm>
            <a:off x="539552" y="1271786"/>
            <a:ext cx="7070954" cy="5181550"/>
          </a:xfrm>
          <a:prstGeom prst="rect">
            <a:avLst/>
          </a:prstGeom>
        </p:spPr>
      </p:pic>
    </p:spTree>
    <p:extLst>
      <p:ext uri="{BB962C8B-B14F-4D97-AF65-F5344CB8AC3E}">
        <p14:creationId xmlns:p14="http://schemas.microsoft.com/office/powerpoint/2010/main" val="2919666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7" name="TextBox 6"/>
          <p:cNvSpPr txBox="1"/>
          <p:nvPr/>
        </p:nvSpPr>
        <p:spPr>
          <a:xfrm>
            <a:off x="477455" y="908720"/>
            <a:ext cx="1306488" cy="400110"/>
          </a:xfrm>
          <a:prstGeom prst="rect">
            <a:avLst/>
          </a:prstGeom>
          <a:noFill/>
        </p:spPr>
        <p:txBody>
          <a:bodyPr wrap="square" rtlCol="0">
            <a:spAutoFit/>
          </a:bodyPr>
          <a:lstStyle/>
          <a:p>
            <a:r>
              <a:rPr lang="en-US" sz="2000" b="1" u="sng" dirty="0" smtClean="0">
                <a:solidFill>
                  <a:srgbClr val="FF0066"/>
                </a:solidFill>
              </a:rPr>
              <a:t>Output:</a:t>
            </a:r>
            <a:endParaRPr lang="en-US" dirty="0">
              <a:solidFill>
                <a:srgbClr val="FF0066"/>
              </a:solidFill>
            </a:endParaRPr>
          </a:p>
        </p:txBody>
      </p:sp>
      <p:pic>
        <p:nvPicPr>
          <p:cNvPr id="4" name="Picture 3"/>
          <p:cNvPicPr>
            <a:picLocks noChangeAspect="1"/>
          </p:cNvPicPr>
          <p:nvPr/>
        </p:nvPicPr>
        <p:blipFill>
          <a:blip r:embed="rId2"/>
          <a:stretch>
            <a:fillRect/>
          </a:stretch>
        </p:blipFill>
        <p:spPr>
          <a:xfrm>
            <a:off x="457200" y="1452846"/>
            <a:ext cx="5266928" cy="4568148"/>
          </a:xfrm>
          <a:prstGeom prst="rect">
            <a:avLst/>
          </a:prstGeom>
        </p:spPr>
      </p:pic>
    </p:spTree>
    <p:extLst>
      <p:ext uri="{BB962C8B-B14F-4D97-AF65-F5344CB8AC3E}">
        <p14:creationId xmlns:p14="http://schemas.microsoft.com/office/powerpoint/2010/main" val="2930873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7467600" cy="508918"/>
          </a:xfrm>
        </p:spPr>
        <p:txBody>
          <a:bodyPr>
            <a:normAutofit fontScale="90000"/>
          </a:bodyPr>
          <a:lstStyle/>
          <a:p>
            <a:r>
              <a:rPr lang="en-US" b="1" dirty="0" smtClean="0">
                <a:solidFill>
                  <a:srgbClr val="7030A0"/>
                </a:solidFill>
              </a:rPr>
              <a:t>Types of </a:t>
            </a:r>
            <a:r>
              <a:rPr lang="en-US" b="1" dirty="0" err="1" smtClean="0">
                <a:solidFill>
                  <a:srgbClr val="7030A0"/>
                </a:solidFill>
              </a:rPr>
              <a:t>css</a:t>
            </a:r>
            <a:r>
              <a:rPr lang="en-US" b="1" dirty="0" smtClean="0">
                <a:solidFill>
                  <a:srgbClr val="7030A0"/>
                </a:solidFill>
              </a:rPr>
              <a:t> selector</a:t>
            </a:r>
            <a:endParaRPr lang="en-IN" b="1" dirty="0">
              <a:solidFill>
                <a:srgbClr val="7030A0"/>
              </a:solidFill>
            </a:endParaRPr>
          </a:p>
        </p:txBody>
      </p:sp>
      <p:sp>
        <p:nvSpPr>
          <p:cNvPr id="3" name="Content Placeholder 2"/>
          <p:cNvSpPr>
            <a:spLocks noGrp="1"/>
          </p:cNvSpPr>
          <p:nvPr>
            <p:ph sz="quarter" idx="1"/>
          </p:nvPr>
        </p:nvSpPr>
        <p:spPr>
          <a:xfrm>
            <a:off x="611560" y="980728"/>
            <a:ext cx="7560840" cy="5544616"/>
          </a:xfrm>
        </p:spPr>
        <p:txBody>
          <a:bodyPr>
            <a:normAutofit fontScale="92500" lnSpcReduction="20000"/>
          </a:bodyPr>
          <a:lstStyle/>
          <a:p>
            <a:pPr marL="0" indent="0">
              <a:buNone/>
            </a:pPr>
            <a:r>
              <a:rPr lang="en-US" b="1" i="1" dirty="0" smtClean="0">
                <a:solidFill>
                  <a:srgbClr val="0000FF"/>
                </a:solidFill>
              </a:rPr>
              <a:t>4) Class Selector</a:t>
            </a:r>
          </a:p>
          <a:p>
            <a:pPr>
              <a:buFont typeface="Arial" panose="020B0604020202020204" pitchFamily="34" charset="0"/>
              <a:buChar char="•"/>
            </a:pPr>
            <a:r>
              <a:rPr lang="en-US" dirty="0"/>
              <a:t>The class selectors can be used to select any HTML element that has a class attribute. All the elements having that class will be formatted according to the defined rule</a:t>
            </a:r>
            <a:r>
              <a:rPr lang="en-US" dirty="0" smtClean="0"/>
              <a:t>.</a:t>
            </a:r>
          </a:p>
          <a:p>
            <a:pPr>
              <a:buFont typeface="Arial" panose="020B0604020202020204" pitchFamily="34" charset="0"/>
              <a:buChar char="•"/>
            </a:pPr>
            <a:r>
              <a:rPr lang="en-US" dirty="0" smtClean="0"/>
              <a:t>The class </a:t>
            </a:r>
            <a:r>
              <a:rPr lang="en-US" dirty="0"/>
              <a:t>selector, denoted by an </a:t>
            </a:r>
            <a:r>
              <a:rPr lang="en-US" dirty="0" smtClean="0">
                <a:solidFill>
                  <a:srgbClr val="FF0000"/>
                </a:solidFill>
              </a:rPr>
              <a:t>Dot (.) Sign</a:t>
            </a:r>
            <a:r>
              <a:rPr lang="en-US" dirty="0" smtClean="0"/>
              <a:t>.</a:t>
            </a:r>
          </a:p>
          <a:p>
            <a:pPr marL="0" indent="0">
              <a:buNone/>
            </a:pPr>
            <a:endParaRPr lang="en-US" sz="1400" b="1" i="1" u="sng" dirty="0" smtClean="0">
              <a:solidFill>
                <a:srgbClr val="FF0000"/>
              </a:solidFill>
            </a:endParaRPr>
          </a:p>
          <a:p>
            <a:pPr marL="0" indent="0">
              <a:buNone/>
            </a:pPr>
            <a:r>
              <a:rPr lang="en-US" b="1" i="1" u="sng" dirty="0" smtClean="0">
                <a:solidFill>
                  <a:srgbClr val="FF0000"/>
                </a:solidFill>
              </a:rPr>
              <a:t>Syntax:</a:t>
            </a:r>
          </a:p>
          <a:p>
            <a:pPr marL="0" indent="0">
              <a:buNone/>
            </a:pPr>
            <a:r>
              <a:rPr lang="en-US" dirty="0"/>
              <a:t>.</a:t>
            </a:r>
            <a:r>
              <a:rPr lang="en-US" dirty="0" smtClean="0"/>
              <a:t>Element’s class name</a:t>
            </a:r>
          </a:p>
          <a:p>
            <a:pPr marL="0" indent="0">
              <a:buNone/>
            </a:pPr>
            <a:r>
              <a:rPr lang="en-US" dirty="0" smtClean="0"/>
              <a:t>{</a:t>
            </a:r>
          </a:p>
          <a:p>
            <a:pPr marL="0" indent="0">
              <a:buNone/>
            </a:pPr>
            <a:r>
              <a:rPr lang="en-US" dirty="0"/>
              <a:t>	</a:t>
            </a:r>
            <a:r>
              <a:rPr lang="en-US" dirty="0" smtClean="0"/>
              <a:t>property </a:t>
            </a:r>
            <a:r>
              <a:rPr lang="en-US" dirty="0" err="1" smtClean="0"/>
              <a:t>name:value</a:t>
            </a:r>
            <a:r>
              <a:rPr lang="en-US" dirty="0" smtClean="0"/>
              <a:t>;</a:t>
            </a:r>
          </a:p>
          <a:p>
            <a:pPr marL="0" indent="0">
              <a:buNone/>
            </a:pPr>
            <a:r>
              <a:rPr lang="en-US" dirty="0" smtClean="0"/>
              <a:t>}</a:t>
            </a:r>
          </a:p>
          <a:p>
            <a:pPr marL="0" indent="0">
              <a:buNone/>
            </a:pPr>
            <a:endParaRPr lang="en-US" sz="1300" dirty="0" smtClean="0"/>
          </a:p>
          <a:p>
            <a:pPr marL="0" indent="0">
              <a:buNone/>
            </a:pPr>
            <a:r>
              <a:rPr lang="en-US" b="1" i="1" u="sng" dirty="0">
                <a:solidFill>
                  <a:srgbClr val="FF0000"/>
                </a:solidFill>
              </a:rPr>
              <a:t>Note:</a:t>
            </a:r>
            <a:r>
              <a:rPr lang="en-US" i="1" u="sng" dirty="0">
                <a:solidFill>
                  <a:srgbClr val="FF0000"/>
                </a:solidFill>
              </a:rPr>
              <a:t> </a:t>
            </a:r>
            <a:endParaRPr lang="en-US" i="1" u="sng" dirty="0" smtClean="0">
              <a:solidFill>
                <a:srgbClr val="FF0000"/>
              </a:solidFill>
            </a:endParaRPr>
          </a:p>
          <a:p>
            <a:pPr lvl="1"/>
            <a:r>
              <a:rPr lang="en-US" dirty="0" smtClean="0"/>
              <a:t>The class </a:t>
            </a:r>
            <a:r>
              <a:rPr lang="en-US" dirty="0"/>
              <a:t>name is case sensitive!</a:t>
            </a:r>
          </a:p>
          <a:p>
            <a:pPr lvl="1"/>
            <a:r>
              <a:rPr lang="en-US" dirty="0" smtClean="0"/>
              <a:t>The </a:t>
            </a:r>
            <a:r>
              <a:rPr lang="en-US" dirty="0"/>
              <a:t>id name must contain at least one character, cannot start with a number, and must not contain whitespaces (spaces, tabs, etc.).</a:t>
            </a:r>
          </a:p>
          <a:p>
            <a:pPr marL="0" indent="0">
              <a:buNone/>
            </a:pPr>
            <a:endParaRPr lang="en-IN" dirty="0"/>
          </a:p>
        </p:txBody>
      </p:sp>
    </p:spTree>
    <p:extLst>
      <p:ext uri="{BB962C8B-B14F-4D97-AF65-F5344CB8AC3E}">
        <p14:creationId xmlns:p14="http://schemas.microsoft.com/office/powerpoint/2010/main" val="40387396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pic>
        <p:nvPicPr>
          <p:cNvPr id="3" name="Picture 2"/>
          <p:cNvPicPr>
            <a:picLocks noChangeAspect="1"/>
          </p:cNvPicPr>
          <p:nvPr/>
        </p:nvPicPr>
        <p:blipFill>
          <a:blip r:embed="rId2"/>
          <a:stretch>
            <a:fillRect/>
          </a:stretch>
        </p:blipFill>
        <p:spPr>
          <a:xfrm>
            <a:off x="539552" y="1271786"/>
            <a:ext cx="7070954" cy="5181550"/>
          </a:xfrm>
          <a:prstGeom prst="rect">
            <a:avLst/>
          </a:prstGeom>
        </p:spPr>
      </p:pic>
    </p:spTree>
    <p:extLst>
      <p:ext uri="{BB962C8B-B14F-4D97-AF65-F5344CB8AC3E}">
        <p14:creationId xmlns:p14="http://schemas.microsoft.com/office/powerpoint/2010/main" val="2398822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7" name="TextBox 6"/>
          <p:cNvSpPr txBox="1"/>
          <p:nvPr/>
        </p:nvSpPr>
        <p:spPr>
          <a:xfrm>
            <a:off x="477455" y="908720"/>
            <a:ext cx="1306488" cy="400110"/>
          </a:xfrm>
          <a:prstGeom prst="rect">
            <a:avLst/>
          </a:prstGeom>
          <a:noFill/>
        </p:spPr>
        <p:txBody>
          <a:bodyPr wrap="square" rtlCol="0">
            <a:spAutoFit/>
          </a:bodyPr>
          <a:lstStyle/>
          <a:p>
            <a:r>
              <a:rPr lang="en-US" sz="2000" b="1" u="sng" dirty="0" smtClean="0">
                <a:solidFill>
                  <a:srgbClr val="FF0066"/>
                </a:solidFill>
              </a:rPr>
              <a:t>Output:</a:t>
            </a:r>
            <a:endParaRPr lang="en-US" dirty="0">
              <a:solidFill>
                <a:srgbClr val="FF0066"/>
              </a:solidFill>
            </a:endParaRPr>
          </a:p>
        </p:txBody>
      </p:sp>
      <p:pic>
        <p:nvPicPr>
          <p:cNvPr id="4" name="Picture 3"/>
          <p:cNvPicPr>
            <a:picLocks noChangeAspect="1"/>
          </p:cNvPicPr>
          <p:nvPr/>
        </p:nvPicPr>
        <p:blipFill>
          <a:blip r:embed="rId2"/>
          <a:stretch>
            <a:fillRect/>
          </a:stretch>
        </p:blipFill>
        <p:spPr>
          <a:xfrm>
            <a:off x="457200" y="1452846"/>
            <a:ext cx="5266928" cy="4568148"/>
          </a:xfrm>
          <a:prstGeom prst="rect">
            <a:avLst/>
          </a:prstGeom>
        </p:spPr>
      </p:pic>
    </p:spTree>
    <p:extLst>
      <p:ext uri="{BB962C8B-B14F-4D97-AF65-F5344CB8AC3E}">
        <p14:creationId xmlns:p14="http://schemas.microsoft.com/office/powerpoint/2010/main" val="4068127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7467600" cy="508918"/>
          </a:xfrm>
        </p:spPr>
        <p:txBody>
          <a:bodyPr>
            <a:normAutofit fontScale="90000"/>
          </a:bodyPr>
          <a:lstStyle/>
          <a:p>
            <a:r>
              <a:rPr lang="en-US" b="1" dirty="0" smtClean="0">
                <a:solidFill>
                  <a:srgbClr val="7030A0"/>
                </a:solidFill>
              </a:rPr>
              <a:t>Types of </a:t>
            </a:r>
            <a:r>
              <a:rPr lang="en-US" b="1" dirty="0" err="1" smtClean="0">
                <a:solidFill>
                  <a:srgbClr val="7030A0"/>
                </a:solidFill>
              </a:rPr>
              <a:t>css</a:t>
            </a:r>
            <a:r>
              <a:rPr lang="en-US" b="1" dirty="0" smtClean="0">
                <a:solidFill>
                  <a:srgbClr val="7030A0"/>
                </a:solidFill>
              </a:rPr>
              <a:t> selector</a:t>
            </a:r>
            <a:endParaRPr lang="en-IN" b="1" dirty="0">
              <a:solidFill>
                <a:srgbClr val="7030A0"/>
              </a:solidFill>
            </a:endParaRPr>
          </a:p>
        </p:txBody>
      </p:sp>
      <p:sp>
        <p:nvSpPr>
          <p:cNvPr id="3" name="Content Placeholder 2"/>
          <p:cNvSpPr>
            <a:spLocks noGrp="1"/>
          </p:cNvSpPr>
          <p:nvPr>
            <p:ph sz="quarter" idx="1"/>
          </p:nvPr>
        </p:nvSpPr>
        <p:spPr>
          <a:xfrm>
            <a:off x="611560" y="980728"/>
            <a:ext cx="7560840" cy="5544616"/>
          </a:xfrm>
        </p:spPr>
        <p:txBody>
          <a:bodyPr>
            <a:normAutofit lnSpcReduction="10000"/>
          </a:bodyPr>
          <a:lstStyle/>
          <a:p>
            <a:pPr marL="0" indent="0">
              <a:buNone/>
            </a:pPr>
            <a:r>
              <a:rPr lang="en-US" b="1" i="1" dirty="0">
                <a:solidFill>
                  <a:srgbClr val="0000FF"/>
                </a:solidFill>
              </a:rPr>
              <a:t>5</a:t>
            </a:r>
            <a:r>
              <a:rPr lang="en-US" b="1" i="1" dirty="0" smtClean="0">
                <a:solidFill>
                  <a:srgbClr val="0000FF"/>
                </a:solidFill>
              </a:rPr>
              <a:t>) </a:t>
            </a:r>
            <a:r>
              <a:rPr lang="en-IN" b="1" i="1" dirty="0" smtClean="0">
                <a:solidFill>
                  <a:srgbClr val="0000FF"/>
                </a:solidFill>
              </a:rPr>
              <a:t>Descendant</a:t>
            </a:r>
            <a:r>
              <a:rPr lang="en-US" b="1" i="1" dirty="0" smtClean="0">
                <a:solidFill>
                  <a:srgbClr val="0000FF"/>
                </a:solidFill>
              </a:rPr>
              <a:t> Selector</a:t>
            </a:r>
          </a:p>
          <a:p>
            <a:pPr>
              <a:buFont typeface="Arial" panose="020B0604020202020204" pitchFamily="34" charset="0"/>
              <a:buChar char="•"/>
            </a:pPr>
            <a:r>
              <a:rPr lang="en-US" dirty="0"/>
              <a:t>You can use these selectors when you need to select an element that is the descendant of another </a:t>
            </a:r>
            <a:r>
              <a:rPr lang="en-US" dirty="0" smtClean="0"/>
              <a:t>element.</a:t>
            </a:r>
          </a:p>
          <a:p>
            <a:pPr>
              <a:buFont typeface="Arial" panose="020B0604020202020204" pitchFamily="34" charset="0"/>
              <a:buChar char="•"/>
            </a:pPr>
            <a:r>
              <a:rPr lang="en-US" dirty="0" smtClean="0"/>
              <a:t>If you want to target only those &lt;p&gt; that are contained within &lt;div&gt; whose class name is </a:t>
            </a:r>
            <a:r>
              <a:rPr lang="en-US" dirty="0" err="1" smtClean="0"/>
              <a:t>mainpara</a:t>
            </a:r>
            <a:r>
              <a:rPr lang="en-US" dirty="0" smtClean="0"/>
              <a:t>, rather than targeting all &lt;p&gt; elements..</a:t>
            </a:r>
          </a:p>
          <a:p>
            <a:pPr marL="0" indent="0">
              <a:buNone/>
            </a:pPr>
            <a:endParaRPr lang="en-US" sz="1400" b="1" i="1" u="sng" dirty="0" smtClean="0">
              <a:solidFill>
                <a:srgbClr val="FF0000"/>
              </a:solidFill>
            </a:endParaRPr>
          </a:p>
          <a:p>
            <a:pPr marL="0" indent="0">
              <a:buNone/>
            </a:pPr>
            <a:r>
              <a:rPr lang="en-US" b="1" i="1" u="sng" dirty="0" smtClean="0">
                <a:solidFill>
                  <a:srgbClr val="FF0000"/>
                </a:solidFill>
              </a:rPr>
              <a:t>Syntax:</a:t>
            </a:r>
          </a:p>
          <a:p>
            <a:pPr marL="0" indent="0">
              <a:buNone/>
            </a:pPr>
            <a:r>
              <a:rPr lang="en-US" dirty="0" err="1" smtClean="0"/>
              <a:t>Element_name</a:t>
            </a:r>
            <a:r>
              <a:rPr lang="en-US" dirty="0" smtClean="0"/>
              <a:t> </a:t>
            </a:r>
            <a:r>
              <a:rPr lang="en-US" dirty="0" err="1" smtClean="0"/>
              <a:t>classname</a:t>
            </a:r>
            <a:r>
              <a:rPr lang="en-US" dirty="0" smtClean="0"/>
              <a:t> </a:t>
            </a:r>
            <a:r>
              <a:rPr lang="en-US" dirty="0" err="1" smtClean="0"/>
              <a:t>inside_element</a:t>
            </a:r>
            <a:endParaRPr lang="en-US" dirty="0" smtClean="0"/>
          </a:p>
          <a:p>
            <a:pPr marL="0" indent="0">
              <a:buNone/>
            </a:pPr>
            <a:r>
              <a:rPr lang="en-US" dirty="0" smtClean="0"/>
              <a:t>{</a:t>
            </a:r>
          </a:p>
          <a:p>
            <a:pPr marL="0" indent="0">
              <a:buNone/>
            </a:pPr>
            <a:r>
              <a:rPr lang="en-US" dirty="0"/>
              <a:t>	</a:t>
            </a:r>
            <a:r>
              <a:rPr lang="en-US" dirty="0" smtClean="0"/>
              <a:t>property </a:t>
            </a:r>
            <a:r>
              <a:rPr lang="en-US" dirty="0" err="1" smtClean="0"/>
              <a:t>name:value</a:t>
            </a:r>
            <a:r>
              <a:rPr lang="en-US" dirty="0" smtClean="0"/>
              <a:t>;</a:t>
            </a:r>
          </a:p>
          <a:p>
            <a:pPr marL="0" indent="0">
              <a:buNone/>
            </a:pPr>
            <a:r>
              <a:rPr lang="en-US" dirty="0" smtClean="0"/>
              <a:t>}</a:t>
            </a:r>
          </a:p>
          <a:p>
            <a:pPr marL="0" indent="0">
              <a:buNone/>
            </a:pPr>
            <a:endParaRPr lang="en-US" sz="1300" dirty="0" smtClean="0"/>
          </a:p>
          <a:p>
            <a:pPr marL="0" indent="0">
              <a:buNone/>
            </a:pPr>
            <a:endParaRPr lang="en-IN" dirty="0"/>
          </a:p>
        </p:txBody>
      </p:sp>
    </p:spTree>
    <p:extLst>
      <p:ext uri="{BB962C8B-B14F-4D97-AF65-F5344CB8AC3E}">
        <p14:creationId xmlns:p14="http://schemas.microsoft.com/office/powerpoint/2010/main" val="25855459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pic>
        <p:nvPicPr>
          <p:cNvPr id="4" name="Picture 3"/>
          <p:cNvPicPr>
            <a:picLocks noChangeAspect="1"/>
          </p:cNvPicPr>
          <p:nvPr/>
        </p:nvPicPr>
        <p:blipFill>
          <a:blip r:embed="rId2"/>
          <a:stretch>
            <a:fillRect/>
          </a:stretch>
        </p:blipFill>
        <p:spPr>
          <a:xfrm>
            <a:off x="539552" y="1164814"/>
            <a:ext cx="5976664" cy="5524027"/>
          </a:xfrm>
          <a:prstGeom prst="rect">
            <a:avLst/>
          </a:prstGeom>
        </p:spPr>
      </p:pic>
    </p:spTree>
    <p:extLst>
      <p:ext uri="{BB962C8B-B14F-4D97-AF65-F5344CB8AC3E}">
        <p14:creationId xmlns:p14="http://schemas.microsoft.com/office/powerpoint/2010/main" val="3919384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7" name="TextBox 6"/>
          <p:cNvSpPr txBox="1"/>
          <p:nvPr/>
        </p:nvSpPr>
        <p:spPr>
          <a:xfrm>
            <a:off x="477455" y="908720"/>
            <a:ext cx="1306488" cy="400110"/>
          </a:xfrm>
          <a:prstGeom prst="rect">
            <a:avLst/>
          </a:prstGeom>
          <a:noFill/>
        </p:spPr>
        <p:txBody>
          <a:bodyPr wrap="square" rtlCol="0">
            <a:spAutoFit/>
          </a:bodyPr>
          <a:lstStyle/>
          <a:p>
            <a:r>
              <a:rPr lang="en-US" sz="2000" b="1" u="sng" dirty="0" smtClean="0">
                <a:solidFill>
                  <a:srgbClr val="FF0066"/>
                </a:solidFill>
              </a:rPr>
              <a:t>Output:</a:t>
            </a:r>
            <a:endParaRPr lang="en-US" dirty="0">
              <a:solidFill>
                <a:srgbClr val="FF0066"/>
              </a:solidFill>
            </a:endParaRPr>
          </a:p>
        </p:txBody>
      </p:sp>
      <p:pic>
        <p:nvPicPr>
          <p:cNvPr id="3" name="Picture 2"/>
          <p:cNvPicPr>
            <a:picLocks noChangeAspect="1"/>
          </p:cNvPicPr>
          <p:nvPr/>
        </p:nvPicPr>
        <p:blipFill>
          <a:blip r:embed="rId2"/>
          <a:stretch>
            <a:fillRect/>
          </a:stretch>
        </p:blipFill>
        <p:spPr>
          <a:xfrm>
            <a:off x="477455" y="1556792"/>
            <a:ext cx="6157494" cy="3939881"/>
          </a:xfrm>
          <a:prstGeom prst="rect">
            <a:avLst/>
          </a:prstGeom>
        </p:spPr>
      </p:pic>
    </p:spTree>
    <p:extLst>
      <p:ext uri="{BB962C8B-B14F-4D97-AF65-F5344CB8AC3E}">
        <p14:creationId xmlns:p14="http://schemas.microsoft.com/office/powerpoint/2010/main" val="250158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7467600" cy="508918"/>
          </a:xfrm>
        </p:spPr>
        <p:txBody>
          <a:bodyPr>
            <a:normAutofit fontScale="90000"/>
          </a:bodyPr>
          <a:lstStyle/>
          <a:p>
            <a:r>
              <a:rPr lang="en-US" b="1" dirty="0" smtClean="0">
                <a:solidFill>
                  <a:srgbClr val="7030A0"/>
                </a:solidFill>
              </a:rPr>
              <a:t>Types of </a:t>
            </a:r>
            <a:r>
              <a:rPr lang="en-US" b="1" dirty="0" err="1" smtClean="0">
                <a:solidFill>
                  <a:srgbClr val="7030A0"/>
                </a:solidFill>
              </a:rPr>
              <a:t>css</a:t>
            </a:r>
            <a:r>
              <a:rPr lang="en-US" b="1" dirty="0" smtClean="0">
                <a:solidFill>
                  <a:srgbClr val="7030A0"/>
                </a:solidFill>
              </a:rPr>
              <a:t> selector</a:t>
            </a:r>
            <a:endParaRPr lang="en-IN" b="1" dirty="0">
              <a:solidFill>
                <a:srgbClr val="7030A0"/>
              </a:solidFill>
            </a:endParaRPr>
          </a:p>
        </p:txBody>
      </p:sp>
      <p:sp>
        <p:nvSpPr>
          <p:cNvPr id="3" name="Content Placeholder 2"/>
          <p:cNvSpPr>
            <a:spLocks noGrp="1"/>
          </p:cNvSpPr>
          <p:nvPr>
            <p:ph sz="quarter" idx="1"/>
          </p:nvPr>
        </p:nvSpPr>
        <p:spPr>
          <a:xfrm>
            <a:off x="611560" y="980728"/>
            <a:ext cx="7560840" cy="5544616"/>
          </a:xfrm>
        </p:spPr>
        <p:txBody>
          <a:bodyPr>
            <a:normAutofit lnSpcReduction="10000"/>
          </a:bodyPr>
          <a:lstStyle/>
          <a:p>
            <a:pPr marL="0" indent="0">
              <a:buNone/>
            </a:pPr>
            <a:r>
              <a:rPr lang="en-US" b="1" i="1" dirty="0" smtClean="0">
                <a:solidFill>
                  <a:srgbClr val="0000FF"/>
                </a:solidFill>
              </a:rPr>
              <a:t>6) </a:t>
            </a:r>
            <a:r>
              <a:rPr lang="en-IN" b="1" i="1" dirty="0" smtClean="0">
                <a:solidFill>
                  <a:srgbClr val="0000FF"/>
                </a:solidFill>
              </a:rPr>
              <a:t>Child</a:t>
            </a:r>
            <a:r>
              <a:rPr lang="en-US" b="1" i="1" dirty="0" smtClean="0">
                <a:solidFill>
                  <a:srgbClr val="0000FF"/>
                </a:solidFill>
              </a:rPr>
              <a:t> Selector</a:t>
            </a:r>
          </a:p>
          <a:p>
            <a:pPr>
              <a:buFont typeface="Arial" panose="020B0604020202020204" pitchFamily="34" charset="0"/>
              <a:buChar char="•"/>
            </a:pPr>
            <a:r>
              <a:rPr lang="en-US" dirty="0"/>
              <a:t>A child selector is used to select only those elements that are the direct children of some element</a:t>
            </a:r>
            <a:r>
              <a:rPr lang="en-US" dirty="0" smtClean="0"/>
              <a:t>.</a:t>
            </a:r>
          </a:p>
          <a:p>
            <a:pPr>
              <a:buFont typeface="Arial" panose="020B0604020202020204" pitchFamily="34" charset="0"/>
              <a:buChar char="•"/>
            </a:pPr>
            <a:r>
              <a:rPr lang="en-US" dirty="0"/>
              <a:t>A child selector is made up of two or more selectors separated by a </a:t>
            </a:r>
            <a:r>
              <a:rPr lang="en-US" dirty="0">
                <a:solidFill>
                  <a:srgbClr val="FF0000"/>
                </a:solidFill>
              </a:rPr>
              <a:t>greater than </a:t>
            </a:r>
            <a:r>
              <a:rPr lang="en-US" dirty="0" smtClean="0">
                <a:solidFill>
                  <a:srgbClr val="FF0000"/>
                </a:solidFill>
              </a:rPr>
              <a:t>symbol(&gt;).</a:t>
            </a:r>
          </a:p>
          <a:p>
            <a:pPr>
              <a:buFont typeface="Arial" panose="020B0604020202020204" pitchFamily="34" charset="0"/>
              <a:buChar char="•"/>
            </a:pPr>
            <a:r>
              <a:rPr lang="en-US" dirty="0"/>
              <a:t>You can use this selector, for instance, to select the first level of list elements inside a nested list that has more than one level.</a:t>
            </a:r>
            <a:endParaRPr lang="en-US" sz="1400" b="1" i="1" u="sng" dirty="0" smtClean="0">
              <a:solidFill>
                <a:srgbClr val="FF0000"/>
              </a:solidFill>
            </a:endParaRPr>
          </a:p>
          <a:p>
            <a:pPr marL="0" indent="0">
              <a:buNone/>
            </a:pPr>
            <a:r>
              <a:rPr lang="en-US" b="1" i="1" u="sng" dirty="0" smtClean="0">
                <a:solidFill>
                  <a:srgbClr val="FF0000"/>
                </a:solidFill>
              </a:rPr>
              <a:t>Syntax:</a:t>
            </a:r>
          </a:p>
          <a:p>
            <a:pPr marL="0" indent="0">
              <a:buNone/>
            </a:pPr>
            <a:r>
              <a:rPr lang="en-US" dirty="0" err="1" smtClean="0"/>
              <a:t>Element_name</a:t>
            </a:r>
            <a:r>
              <a:rPr lang="en-US" dirty="0" smtClean="0"/>
              <a:t> &gt; Child element name</a:t>
            </a:r>
          </a:p>
          <a:p>
            <a:pPr marL="0" indent="0">
              <a:buNone/>
            </a:pPr>
            <a:r>
              <a:rPr lang="en-US" dirty="0" smtClean="0"/>
              <a:t>{</a:t>
            </a:r>
          </a:p>
          <a:p>
            <a:pPr marL="0" indent="0">
              <a:buNone/>
            </a:pPr>
            <a:r>
              <a:rPr lang="en-US" dirty="0"/>
              <a:t>	</a:t>
            </a:r>
            <a:r>
              <a:rPr lang="en-US" dirty="0" smtClean="0"/>
              <a:t>property </a:t>
            </a:r>
            <a:r>
              <a:rPr lang="en-US" dirty="0" err="1" smtClean="0"/>
              <a:t>name:value</a:t>
            </a:r>
            <a:r>
              <a:rPr lang="en-US" dirty="0" smtClean="0"/>
              <a:t>;</a:t>
            </a:r>
          </a:p>
          <a:p>
            <a:pPr marL="0" indent="0">
              <a:buNone/>
            </a:pPr>
            <a:r>
              <a:rPr lang="en-US" dirty="0" smtClean="0"/>
              <a:t>}</a:t>
            </a:r>
          </a:p>
          <a:p>
            <a:pPr marL="0" indent="0">
              <a:buNone/>
            </a:pPr>
            <a:endParaRPr lang="en-US" sz="1300" dirty="0" smtClean="0"/>
          </a:p>
          <a:p>
            <a:pPr marL="0" indent="0">
              <a:buNone/>
            </a:pPr>
            <a:endParaRPr lang="en-IN" dirty="0"/>
          </a:p>
        </p:txBody>
      </p:sp>
    </p:spTree>
    <p:extLst>
      <p:ext uri="{BB962C8B-B14F-4D97-AF65-F5344CB8AC3E}">
        <p14:creationId xmlns:p14="http://schemas.microsoft.com/office/powerpoint/2010/main" val="3205307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pic>
        <p:nvPicPr>
          <p:cNvPr id="3" name="Picture 2"/>
          <p:cNvPicPr>
            <a:picLocks noChangeAspect="1"/>
          </p:cNvPicPr>
          <p:nvPr/>
        </p:nvPicPr>
        <p:blipFill>
          <a:blip r:embed="rId2"/>
          <a:stretch>
            <a:fillRect/>
          </a:stretch>
        </p:blipFill>
        <p:spPr>
          <a:xfrm>
            <a:off x="457200" y="1198242"/>
            <a:ext cx="5410944" cy="5471118"/>
          </a:xfrm>
          <a:prstGeom prst="rect">
            <a:avLst/>
          </a:prstGeom>
        </p:spPr>
      </p:pic>
    </p:spTree>
    <p:extLst>
      <p:ext uri="{BB962C8B-B14F-4D97-AF65-F5344CB8AC3E}">
        <p14:creationId xmlns:p14="http://schemas.microsoft.com/office/powerpoint/2010/main" val="1237716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7" name="TextBox 6"/>
          <p:cNvSpPr txBox="1"/>
          <p:nvPr/>
        </p:nvSpPr>
        <p:spPr>
          <a:xfrm>
            <a:off x="477455" y="908720"/>
            <a:ext cx="1306488" cy="400110"/>
          </a:xfrm>
          <a:prstGeom prst="rect">
            <a:avLst/>
          </a:prstGeom>
          <a:noFill/>
        </p:spPr>
        <p:txBody>
          <a:bodyPr wrap="square" rtlCol="0">
            <a:spAutoFit/>
          </a:bodyPr>
          <a:lstStyle/>
          <a:p>
            <a:r>
              <a:rPr lang="en-US" sz="2000" b="1" u="sng" dirty="0" smtClean="0">
                <a:solidFill>
                  <a:srgbClr val="FF0066"/>
                </a:solidFill>
              </a:rPr>
              <a:t>Output:</a:t>
            </a:r>
            <a:endParaRPr lang="en-US" dirty="0">
              <a:solidFill>
                <a:srgbClr val="FF0066"/>
              </a:solidFill>
            </a:endParaRPr>
          </a:p>
        </p:txBody>
      </p:sp>
      <p:pic>
        <p:nvPicPr>
          <p:cNvPr id="4" name="Picture 3"/>
          <p:cNvPicPr>
            <a:picLocks noChangeAspect="1"/>
          </p:cNvPicPr>
          <p:nvPr/>
        </p:nvPicPr>
        <p:blipFill>
          <a:blip r:embed="rId2"/>
          <a:stretch>
            <a:fillRect/>
          </a:stretch>
        </p:blipFill>
        <p:spPr>
          <a:xfrm>
            <a:off x="323528" y="1452846"/>
            <a:ext cx="5753814" cy="2668099"/>
          </a:xfrm>
          <a:prstGeom prst="rect">
            <a:avLst/>
          </a:prstGeom>
        </p:spPr>
      </p:pic>
    </p:spTree>
    <p:extLst>
      <p:ext uri="{BB962C8B-B14F-4D97-AF65-F5344CB8AC3E}">
        <p14:creationId xmlns:p14="http://schemas.microsoft.com/office/powerpoint/2010/main" val="3386295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7467600" cy="508918"/>
          </a:xfrm>
        </p:spPr>
        <p:txBody>
          <a:bodyPr>
            <a:normAutofit fontScale="90000"/>
          </a:bodyPr>
          <a:lstStyle/>
          <a:p>
            <a:r>
              <a:rPr lang="en-US" b="1" dirty="0" smtClean="0">
                <a:solidFill>
                  <a:srgbClr val="7030A0"/>
                </a:solidFill>
              </a:rPr>
              <a:t>Types of </a:t>
            </a:r>
            <a:r>
              <a:rPr lang="en-US" b="1" dirty="0" err="1" smtClean="0">
                <a:solidFill>
                  <a:srgbClr val="7030A0"/>
                </a:solidFill>
              </a:rPr>
              <a:t>css</a:t>
            </a:r>
            <a:r>
              <a:rPr lang="en-US" b="1" dirty="0" smtClean="0">
                <a:solidFill>
                  <a:srgbClr val="7030A0"/>
                </a:solidFill>
              </a:rPr>
              <a:t> selector</a:t>
            </a:r>
            <a:endParaRPr lang="en-IN" b="1" dirty="0">
              <a:solidFill>
                <a:srgbClr val="7030A0"/>
              </a:solidFill>
            </a:endParaRPr>
          </a:p>
        </p:txBody>
      </p:sp>
      <p:sp>
        <p:nvSpPr>
          <p:cNvPr id="3" name="Content Placeholder 2"/>
          <p:cNvSpPr>
            <a:spLocks noGrp="1"/>
          </p:cNvSpPr>
          <p:nvPr>
            <p:ph sz="quarter" idx="1"/>
          </p:nvPr>
        </p:nvSpPr>
        <p:spPr>
          <a:xfrm>
            <a:off x="611560" y="980728"/>
            <a:ext cx="7560840" cy="5544616"/>
          </a:xfrm>
        </p:spPr>
        <p:txBody>
          <a:bodyPr>
            <a:normAutofit fontScale="92500" lnSpcReduction="10000"/>
          </a:bodyPr>
          <a:lstStyle/>
          <a:p>
            <a:pPr marL="0" indent="0" fontAlgn="base">
              <a:buNone/>
            </a:pPr>
            <a:r>
              <a:rPr lang="en-US" b="1" i="1" dirty="0" smtClean="0">
                <a:solidFill>
                  <a:srgbClr val="0000FF"/>
                </a:solidFill>
              </a:rPr>
              <a:t>7) </a:t>
            </a:r>
            <a:r>
              <a:rPr lang="en-IN" b="1" i="1" dirty="0">
                <a:solidFill>
                  <a:srgbClr val="0000FF"/>
                </a:solidFill>
              </a:rPr>
              <a:t>Adjacent Sibling Selectors</a:t>
            </a:r>
          </a:p>
          <a:p>
            <a:pPr>
              <a:buFont typeface="Arial" panose="020B0604020202020204" pitchFamily="34" charset="0"/>
              <a:buChar char="•"/>
            </a:pPr>
            <a:r>
              <a:rPr lang="en-US" dirty="0" smtClean="0"/>
              <a:t>It is used </a:t>
            </a:r>
            <a:r>
              <a:rPr lang="en-US" dirty="0"/>
              <a:t>to select sibling </a:t>
            </a:r>
            <a:r>
              <a:rPr lang="en-US" dirty="0" smtClean="0"/>
              <a:t>elements.</a:t>
            </a:r>
          </a:p>
          <a:p>
            <a:pPr>
              <a:buFont typeface="Arial" panose="020B0604020202020204" pitchFamily="34" charset="0"/>
              <a:buChar char="•"/>
            </a:pPr>
            <a:r>
              <a:rPr lang="en-US" dirty="0"/>
              <a:t>This selector has the syntax like: E1 + E2, where E2 is the target of the selector.</a:t>
            </a:r>
            <a:endParaRPr lang="en-US" dirty="0" smtClean="0"/>
          </a:p>
          <a:p>
            <a:pPr>
              <a:buFont typeface="Arial" panose="020B0604020202020204" pitchFamily="34" charset="0"/>
              <a:buChar char="•"/>
            </a:pPr>
            <a:r>
              <a:rPr lang="en-US" dirty="0" smtClean="0"/>
              <a:t>A </a:t>
            </a:r>
            <a:r>
              <a:rPr lang="en-US" dirty="0"/>
              <a:t>child selector is made up of two or more selectors separated by a </a:t>
            </a:r>
            <a:r>
              <a:rPr lang="en-US" dirty="0" smtClean="0">
                <a:solidFill>
                  <a:srgbClr val="FF0000"/>
                </a:solidFill>
              </a:rPr>
              <a:t>plus sign(+).</a:t>
            </a:r>
          </a:p>
          <a:p>
            <a:pPr>
              <a:buFont typeface="Arial" panose="020B0604020202020204" pitchFamily="34" charset="0"/>
              <a:buChar char="•"/>
            </a:pPr>
            <a:r>
              <a:rPr lang="en-US" dirty="0"/>
              <a:t>The selector h1 + p in the following example will select the &lt;p&gt; elements only if both the &lt;h1&gt; and &lt;p&gt; elements share the same parent in the document tree and &lt;h1&gt; is immediately precedes the &lt;p&gt; </a:t>
            </a:r>
            <a:r>
              <a:rPr lang="en-US" dirty="0" smtClean="0"/>
              <a:t>element.</a:t>
            </a:r>
          </a:p>
          <a:p>
            <a:pPr marL="0" indent="0">
              <a:buNone/>
            </a:pPr>
            <a:r>
              <a:rPr lang="en-US" b="1" i="1" u="sng" dirty="0" smtClean="0">
                <a:solidFill>
                  <a:srgbClr val="FF0000"/>
                </a:solidFill>
              </a:rPr>
              <a:t>Syntax:</a:t>
            </a:r>
          </a:p>
          <a:p>
            <a:pPr marL="0" indent="0">
              <a:buNone/>
            </a:pPr>
            <a:r>
              <a:rPr lang="en-US" dirty="0" smtClean="0"/>
              <a:t>Element_name1 + Element name2</a:t>
            </a:r>
          </a:p>
          <a:p>
            <a:pPr marL="0" indent="0">
              <a:buNone/>
            </a:pPr>
            <a:r>
              <a:rPr lang="en-US" dirty="0" smtClean="0"/>
              <a:t>{</a:t>
            </a:r>
          </a:p>
          <a:p>
            <a:pPr marL="0" indent="0">
              <a:buNone/>
            </a:pPr>
            <a:r>
              <a:rPr lang="en-US" dirty="0"/>
              <a:t>	</a:t>
            </a:r>
            <a:r>
              <a:rPr lang="en-US" dirty="0" smtClean="0"/>
              <a:t>property </a:t>
            </a:r>
            <a:r>
              <a:rPr lang="en-US" dirty="0" err="1" smtClean="0"/>
              <a:t>name:value</a:t>
            </a:r>
            <a:r>
              <a:rPr lang="en-US" dirty="0" smtClean="0"/>
              <a:t>;</a:t>
            </a:r>
          </a:p>
          <a:p>
            <a:pPr marL="0" indent="0">
              <a:buNone/>
            </a:pPr>
            <a:r>
              <a:rPr lang="en-US" dirty="0" smtClean="0"/>
              <a:t>}</a:t>
            </a:r>
          </a:p>
          <a:p>
            <a:pPr marL="0" indent="0">
              <a:buNone/>
            </a:pPr>
            <a:endParaRPr lang="en-US" sz="1300" dirty="0" smtClean="0"/>
          </a:p>
          <a:p>
            <a:pPr marL="0" indent="0">
              <a:buNone/>
            </a:pPr>
            <a:endParaRPr lang="en-IN" dirty="0"/>
          </a:p>
        </p:txBody>
      </p:sp>
    </p:spTree>
    <p:extLst>
      <p:ext uri="{BB962C8B-B14F-4D97-AF65-F5344CB8AC3E}">
        <p14:creationId xmlns:p14="http://schemas.microsoft.com/office/powerpoint/2010/main" val="22983106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pic>
        <p:nvPicPr>
          <p:cNvPr id="5" name="Picture 4"/>
          <p:cNvPicPr>
            <a:picLocks noChangeAspect="1"/>
          </p:cNvPicPr>
          <p:nvPr/>
        </p:nvPicPr>
        <p:blipFill>
          <a:blip r:embed="rId2"/>
          <a:stretch>
            <a:fillRect/>
          </a:stretch>
        </p:blipFill>
        <p:spPr>
          <a:xfrm>
            <a:off x="539552" y="1257257"/>
            <a:ext cx="5256584" cy="5375242"/>
          </a:xfrm>
          <a:prstGeom prst="rect">
            <a:avLst/>
          </a:prstGeom>
        </p:spPr>
      </p:pic>
    </p:spTree>
    <p:extLst>
      <p:ext uri="{BB962C8B-B14F-4D97-AF65-F5344CB8AC3E}">
        <p14:creationId xmlns:p14="http://schemas.microsoft.com/office/powerpoint/2010/main" val="1049029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7" name="TextBox 6"/>
          <p:cNvSpPr txBox="1"/>
          <p:nvPr/>
        </p:nvSpPr>
        <p:spPr>
          <a:xfrm>
            <a:off x="477455" y="908720"/>
            <a:ext cx="1306488" cy="400110"/>
          </a:xfrm>
          <a:prstGeom prst="rect">
            <a:avLst/>
          </a:prstGeom>
          <a:noFill/>
        </p:spPr>
        <p:txBody>
          <a:bodyPr wrap="square" rtlCol="0">
            <a:spAutoFit/>
          </a:bodyPr>
          <a:lstStyle/>
          <a:p>
            <a:r>
              <a:rPr lang="en-US" sz="2000" b="1" u="sng" dirty="0" smtClean="0">
                <a:solidFill>
                  <a:srgbClr val="FF0066"/>
                </a:solidFill>
              </a:rPr>
              <a:t>Output:</a:t>
            </a:r>
            <a:endParaRPr lang="en-US" dirty="0">
              <a:solidFill>
                <a:srgbClr val="FF0066"/>
              </a:solidFill>
            </a:endParaRPr>
          </a:p>
        </p:txBody>
      </p:sp>
      <p:pic>
        <p:nvPicPr>
          <p:cNvPr id="5" name="Picture 4"/>
          <p:cNvPicPr>
            <a:picLocks noChangeAspect="1"/>
          </p:cNvPicPr>
          <p:nvPr/>
        </p:nvPicPr>
        <p:blipFill>
          <a:blip r:embed="rId2"/>
          <a:stretch>
            <a:fillRect/>
          </a:stretch>
        </p:blipFill>
        <p:spPr>
          <a:xfrm>
            <a:off x="477455" y="1452846"/>
            <a:ext cx="6449325" cy="4324954"/>
          </a:xfrm>
          <a:prstGeom prst="rect">
            <a:avLst/>
          </a:prstGeom>
        </p:spPr>
      </p:pic>
    </p:spTree>
    <p:extLst>
      <p:ext uri="{BB962C8B-B14F-4D97-AF65-F5344CB8AC3E}">
        <p14:creationId xmlns:p14="http://schemas.microsoft.com/office/powerpoint/2010/main" val="4050276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7467600" cy="508918"/>
          </a:xfrm>
        </p:spPr>
        <p:txBody>
          <a:bodyPr>
            <a:normAutofit fontScale="90000"/>
          </a:bodyPr>
          <a:lstStyle/>
          <a:p>
            <a:r>
              <a:rPr lang="en-US" b="1" dirty="0" smtClean="0">
                <a:solidFill>
                  <a:srgbClr val="7030A0"/>
                </a:solidFill>
              </a:rPr>
              <a:t>Types of </a:t>
            </a:r>
            <a:r>
              <a:rPr lang="en-US" b="1" dirty="0" err="1" smtClean="0">
                <a:solidFill>
                  <a:srgbClr val="7030A0"/>
                </a:solidFill>
              </a:rPr>
              <a:t>css</a:t>
            </a:r>
            <a:r>
              <a:rPr lang="en-US" b="1" dirty="0" smtClean="0">
                <a:solidFill>
                  <a:srgbClr val="7030A0"/>
                </a:solidFill>
              </a:rPr>
              <a:t> selector</a:t>
            </a:r>
            <a:endParaRPr lang="en-IN" b="1" dirty="0">
              <a:solidFill>
                <a:srgbClr val="7030A0"/>
              </a:solidFill>
            </a:endParaRPr>
          </a:p>
        </p:txBody>
      </p:sp>
      <p:sp>
        <p:nvSpPr>
          <p:cNvPr id="3" name="Content Placeholder 2"/>
          <p:cNvSpPr>
            <a:spLocks noGrp="1"/>
          </p:cNvSpPr>
          <p:nvPr>
            <p:ph sz="quarter" idx="1"/>
          </p:nvPr>
        </p:nvSpPr>
        <p:spPr>
          <a:xfrm>
            <a:off x="611560" y="980728"/>
            <a:ext cx="7560840" cy="5544616"/>
          </a:xfrm>
        </p:spPr>
        <p:txBody>
          <a:bodyPr>
            <a:normAutofit fontScale="92500" lnSpcReduction="10000"/>
          </a:bodyPr>
          <a:lstStyle/>
          <a:p>
            <a:pPr marL="0" indent="0" fontAlgn="base">
              <a:buNone/>
            </a:pPr>
            <a:r>
              <a:rPr lang="en-US" b="1" i="1" dirty="0" smtClean="0">
                <a:solidFill>
                  <a:srgbClr val="0000FF"/>
                </a:solidFill>
              </a:rPr>
              <a:t>8) </a:t>
            </a:r>
            <a:r>
              <a:rPr lang="en-IN" b="1" i="1" dirty="0" smtClean="0">
                <a:solidFill>
                  <a:srgbClr val="0000FF"/>
                </a:solidFill>
              </a:rPr>
              <a:t>General </a:t>
            </a:r>
            <a:r>
              <a:rPr lang="en-IN" b="1" i="1" dirty="0">
                <a:solidFill>
                  <a:srgbClr val="0000FF"/>
                </a:solidFill>
              </a:rPr>
              <a:t>Sibling Selectors</a:t>
            </a:r>
          </a:p>
          <a:p>
            <a:pPr>
              <a:buFont typeface="Arial" panose="020B0604020202020204" pitchFamily="34" charset="0"/>
              <a:buChar char="•"/>
            </a:pPr>
            <a:r>
              <a:rPr lang="en-US" dirty="0" smtClean="0"/>
              <a:t>It is used </a:t>
            </a:r>
            <a:r>
              <a:rPr lang="en-US" dirty="0"/>
              <a:t>to select sibling </a:t>
            </a:r>
            <a:r>
              <a:rPr lang="en-US" dirty="0" smtClean="0"/>
              <a:t>elements.</a:t>
            </a:r>
          </a:p>
          <a:p>
            <a:pPr>
              <a:buFont typeface="Arial" panose="020B0604020202020204" pitchFamily="34" charset="0"/>
              <a:buChar char="•"/>
            </a:pPr>
            <a:r>
              <a:rPr lang="en-US" dirty="0"/>
              <a:t>This selector has the syntax like: E1 </a:t>
            </a:r>
            <a:r>
              <a:rPr lang="en-US" dirty="0" smtClean="0"/>
              <a:t>~ </a:t>
            </a:r>
            <a:r>
              <a:rPr lang="en-US" dirty="0"/>
              <a:t>E2, where E2 is the target of the selector.</a:t>
            </a:r>
            <a:endParaRPr lang="en-US" dirty="0" smtClean="0"/>
          </a:p>
          <a:p>
            <a:pPr>
              <a:buFont typeface="Arial" panose="020B0604020202020204" pitchFamily="34" charset="0"/>
              <a:buChar char="•"/>
            </a:pPr>
            <a:r>
              <a:rPr lang="en-US" dirty="0" smtClean="0"/>
              <a:t>A </a:t>
            </a:r>
            <a:r>
              <a:rPr lang="en-US" dirty="0"/>
              <a:t>child selector is made up of two or more selectors separated by a </a:t>
            </a:r>
            <a:r>
              <a:rPr lang="en-US" dirty="0" smtClean="0">
                <a:solidFill>
                  <a:srgbClr val="FF0000"/>
                </a:solidFill>
              </a:rPr>
              <a:t>tilde sign(~).</a:t>
            </a:r>
          </a:p>
          <a:p>
            <a:pPr>
              <a:buFont typeface="Arial" panose="020B0604020202020204" pitchFamily="34" charset="0"/>
              <a:buChar char="•"/>
            </a:pPr>
            <a:r>
              <a:rPr lang="en-US" dirty="0"/>
              <a:t>The selector h1 ∼ p in the example below will select all the &lt;p&gt; elements that preceded by the &lt;h1&gt; element, where all the elements share the same parent in the document tree</a:t>
            </a:r>
            <a:r>
              <a:rPr lang="en-US" dirty="0" smtClean="0"/>
              <a:t>.</a:t>
            </a:r>
          </a:p>
          <a:p>
            <a:pPr marL="0" indent="0">
              <a:buNone/>
            </a:pPr>
            <a:r>
              <a:rPr lang="en-US" b="1" i="1" u="sng" dirty="0" smtClean="0">
                <a:solidFill>
                  <a:srgbClr val="FF0000"/>
                </a:solidFill>
              </a:rPr>
              <a:t>Syntax:</a:t>
            </a:r>
          </a:p>
          <a:p>
            <a:pPr marL="0" indent="0">
              <a:buNone/>
            </a:pPr>
            <a:r>
              <a:rPr lang="en-US" dirty="0" smtClean="0"/>
              <a:t>Element_name1 ~ Element name2</a:t>
            </a:r>
          </a:p>
          <a:p>
            <a:pPr marL="0" indent="0">
              <a:buNone/>
            </a:pPr>
            <a:r>
              <a:rPr lang="en-US" dirty="0" smtClean="0"/>
              <a:t>{</a:t>
            </a:r>
          </a:p>
          <a:p>
            <a:pPr marL="0" indent="0">
              <a:buNone/>
            </a:pPr>
            <a:r>
              <a:rPr lang="en-US" dirty="0"/>
              <a:t>	</a:t>
            </a:r>
            <a:r>
              <a:rPr lang="en-US" dirty="0" smtClean="0"/>
              <a:t>property </a:t>
            </a:r>
            <a:r>
              <a:rPr lang="en-US" dirty="0" err="1" smtClean="0"/>
              <a:t>name:value</a:t>
            </a:r>
            <a:r>
              <a:rPr lang="en-US" dirty="0" smtClean="0"/>
              <a:t>;</a:t>
            </a:r>
          </a:p>
          <a:p>
            <a:pPr marL="0" indent="0">
              <a:buNone/>
            </a:pPr>
            <a:r>
              <a:rPr lang="en-US" dirty="0" smtClean="0"/>
              <a:t>}</a:t>
            </a:r>
          </a:p>
          <a:p>
            <a:pPr marL="0" indent="0">
              <a:buNone/>
            </a:pPr>
            <a:endParaRPr lang="en-US" sz="1300" dirty="0" smtClean="0"/>
          </a:p>
          <a:p>
            <a:pPr marL="0" indent="0">
              <a:buNone/>
            </a:pPr>
            <a:endParaRPr lang="en-IN" dirty="0"/>
          </a:p>
        </p:txBody>
      </p:sp>
    </p:spTree>
    <p:extLst>
      <p:ext uri="{BB962C8B-B14F-4D97-AF65-F5344CB8AC3E}">
        <p14:creationId xmlns:p14="http://schemas.microsoft.com/office/powerpoint/2010/main" val="7886177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pic>
        <p:nvPicPr>
          <p:cNvPr id="3" name="Picture 2"/>
          <p:cNvPicPr>
            <a:picLocks noChangeAspect="1"/>
          </p:cNvPicPr>
          <p:nvPr/>
        </p:nvPicPr>
        <p:blipFill>
          <a:blip r:embed="rId2"/>
          <a:stretch>
            <a:fillRect/>
          </a:stretch>
        </p:blipFill>
        <p:spPr>
          <a:xfrm>
            <a:off x="539552" y="1270081"/>
            <a:ext cx="5472608" cy="5381566"/>
          </a:xfrm>
          <a:prstGeom prst="rect">
            <a:avLst/>
          </a:prstGeom>
        </p:spPr>
      </p:pic>
    </p:spTree>
    <p:extLst>
      <p:ext uri="{BB962C8B-B14F-4D97-AF65-F5344CB8AC3E}">
        <p14:creationId xmlns:p14="http://schemas.microsoft.com/office/powerpoint/2010/main" val="1739292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7" name="TextBox 6"/>
          <p:cNvSpPr txBox="1"/>
          <p:nvPr/>
        </p:nvSpPr>
        <p:spPr>
          <a:xfrm>
            <a:off x="477455" y="908720"/>
            <a:ext cx="1306488" cy="400110"/>
          </a:xfrm>
          <a:prstGeom prst="rect">
            <a:avLst/>
          </a:prstGeom>
          <a:noFill/>
        </p:spPr>
        <p:txBody>
          <a:bodyPr wrap="square" rtlCol="0">
            <a:spAutoFit/>
          </a:bodyPr>
          <a:lstStyle/>
          <a:p>
            <a:r>
              <a:rPr lang="en-US" sz="2000" b="1" u="sng" dirty="0" smtClean="0">
                <a:solidFill>
                  <a:srgbClr val="FF0066"/>
                </a:solidFill>
              </a:rPr>
              <a:t>Output:</a:t>
            </a:r>
            <a:endParaRPr lang="en-US" dirty="0">
              <a:solidFill>
                <a:srgbClr val="FF0066"/>
              </a:solidFill>
            </a:endParaRPr>
          </a:p>
        </p:txBody>
      </p:sp>
      <p:pic>
        <p:nvPicPr>
          <p:cNvPr id="3" name="Picture 2"/>
          <p:cNvPicPr>
            <a:picLocks noChangeAspect="1"/>
          </p:cNvPicPr>
          <p:nvPr/>
        </p:nvPicPr>
        <p:blipFill>
          <a:blip r:embed="rId2"/>
          <a:stretch>
            <a:fillRect/>
          </a:stretch>
        </p:blipFill>
        <p:spPr>
          <a:xfrm>
            <a:off x="539552" y="1438031"/>
            <a:ext cx="4618048" cy="4968552"/>
          </a:xfrm>
          <a:prstGeom prst="rect">
            <a:avLst/>
          </a:prstGeom>
        </p:spPr>
      </p:pic>
    </p:spTree>
    <p:extLst>
      <p:ext uri="{BB962C8B-B14F-4D97-AF65-F5344CB8AC3E}">
        <p14:creationId xmlns:p14="http://schemas.microsoft.com/office/powerpoint/2010/main" val="2171692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7467600" cy="508918"/>
          </a:xfrm>
        </p:spPr>
        <p:txBody>
          <a:bodyPr>
            <a:normAutofit fontScale="90000"/>
          </a:bodyPr>
          <a:lstStyle/>
          <a:p>
            <a:r>
              <a:rPr lang="en-US" b="1" dirty="0" smtClean="0">
                <a:solidFill>
                  <a:srgbClr val="7030A0"/>
                </a:solidFill>
              </a:rPr>
              <a:t>Types of </a:t>
            </a:r>
            <a:r>
              <a:rPr lang="en-US" b="1" dirty="0" err="1" smtClean="0">
                <a:solidFill>
                  <a:srgbClr val="7030A0"/>
                </a:solidFill>
              </a:rPr>
              <a:t>css</a:t>
            </a:r>
            <a:r>
              <a:rPr lang="en-US" b="1" dirty="0" smtClean="0">
                <a:solidFill>
                  <a:srgbClr val="7030A0"/>
                </a:solidFill>
              </a:rPr>
              <a:t> selector</a:t>
            </a:r>
            <a:endParaRPr lang="en-IN" b="1" dirty="0">
              <a:solidFill>
                <a:srgbClr val="7030A0"/>
              </a:solidFill>
            </a:endParaRPr>
          </a:p>
        </p:txBody>
      </p:sp>
      <p:sp>
        <p:nvSpPr>
          <p:cNvPr id="3" name="Content Placeholder 2"/>
          <p:cNvSpPr>
            <a:spLocks noGrp="1"/>
          </p:cNvSpPr>
          <p:nvPr>
            <p:ph sz="quarter" idx="1"/>
          </p:nvPr>
        </p:nvSpPr>
        <p:spPr>
          <a:xfrm>
            <a:off x="611560" y="980728"/>
            <a:ext cx="7560840" cy="5544616"/>
          </a:xfrm>
        </p:spPr>
        <p:txBody>
          <a:bodyPr>
            <a:normAutofit/>
          </a:bodyPr>
          <a:lstStyle/>
          <a:p>
            <a:pPr marL="0" indent="0" fontAlgn="base">
              <a:buNone/>
            </a:pPr>
            <a:r>
              <a:rPr lang="en-US" b="1" i="1" dirty="0" smtClean="0">
                <a:solidFill>
                  <a:srgbClr val="0000FF"/>
                </a:solidFill>
              </a:rPr>
              <a:t>9) </a:t>
            </a:r>
            <a:r>
              <a:rPr lang="en-IN" b="1" i="1" dirty="0" smtClean="0">
                <a:solidFill>
                  <a:srgbClr val="0000FF"/>
                </a:solidFill>
              </a:rPr>
              <a:t>Group Selectors</a:t>
            </a:r>
            <a:endParaRPr lang="en-IN" b="1" i="1" dirty="0">
              <a:solidFill>
                <a:srgbClr val="0000FF"/>
              </a:solidFill>
            </a:endParaRPr>
          </a:p>
          <a:p>
            <a:pPr>
              <a:buFont typeface="Arial" panose="020B0604020202020204" pitchFamily="34" charset="0"/>
              <a:buChar char="•"/>
            </a:pPr>
            <a:r>
              <a:rPr lang="en-US" dirty="0"/>
              <a:t>You can apply a style to many selectors if you like. Just separate the selectors with a </a:t>
            </a:r>
            <a:r>
              <a:rPr lang="en-US" dirty="0" smtClean="0">
                <a:solidFill>
                  <a:srgbClr val="FF0000"/>
                </a:solidFill>
              </a:rPr>
              <a:t>comma(,).</a:t>
            </a:r>
          </a:p>
          <a:p>
            <a:pPr marL="0" indent="0">
              <a:buNone/>
            </a:pPr>
            <a:endParaRPr lang="en-US" b="1" i="1" u="sng" dirty="0" smtClean="0">
              <a:solidFill>
                <a:srgbClr val="FF0000"/>
              </a:solidFill>
            </a:endParaRPr>
          </a:p>
          <a:p>
            <a:pPr marL="0" indent="0">
              <a:buNone/>
            </a:pPr>
            <a:endParaRPr lang="en-US" b="1" i="1" u="sng" dirty="0" smtClean="0">
              <a:solidFill>
                <a:srgbClr val="FF0000"/>
              </a:solidFill>
            </a:endParaRPr>
          </a:p>
          <a:p>
            <a:pPr marL="0" indent="0">
              <a:buNone/>
            </a:pPr>
            <a:r>
              <a:rPr lang="en-US" b="1" i="1" u="sng" dirty="0" smtClean="0">
                <a:solidFill>
                  <a:srgbClr val="FF0000"/>
                </a:solidFill>
              </a:rPr>
              <a:t>Syntax:</a:t>
            </a:r>
          </a:p>
          <a:p>
            <a:pPr marL="0" indent="0">
              <a:buNone/>
            </a:pPr>
            <a:r>
              <a:rPr lang="en-US" dirty="0" smtClean="0"/>
              <a:t>Element1,Element2,Element3</a:t>
            </a:r>
          </a:p>
          <a:p>
            <a:pPr marL="0" indent="0">
              <a:buNone/>
            </a:pPr>
            <a:r>
              <a:rPr lang="en-US" dirty="0" smtClean="0"/>
              <a:t>{</a:t>
            </a:r>
          </a:p>
          <a:p>
            <a:pPr marL="0" indent="0">
              <a:buNone/>
            </a:pPr>
            <a:r>
              <a:rPr lang="en-US" dirty="0"/>
              <a:t>	</a:t>
            </a:r>
            <a:r>
              <a:rPr lang="en-US" dirty="0" smtClean="0"/>
              <a:t>property </a:t>
            </a:r>
            <a:r>
              <a:rPr lang="en-US" dirty="0" err="1" smtClean="0"/>
              <a:t>name:value</a:t>
            </a:r>
            <a:r>
              <a:rPr lang="en-US" dirty="0" smtClean="0"/>
              <a:t>;</a:t>
            </a:r>
          </a:p>
          <a:p>
            <a:pPr marL="0" indent="0">
              <a:buNone/>
            </a:pPr>
            <a:r>
              <a:rPr lang="en-US" dirty="0" smtClean="0"/>
              <a:t>}</a:t>
            </a:r>
          </a:p>
          <a:p>
            <a:pPr marL="0" indent="0">
              <a:buNone/>
            </a:pPr>
            <a:endParaRPr lang="en-US" sz="1300" dirty="0" smtClean="0"/>
          </a:p>
          <a:p>
            <a:pPr marL="0" indent="0">
              <a:buNone/>
            </a:pPr>
            <a:endParaRPr lang="en-IN" dirty="0"/>
          </a:p>
        </p:txBody>
      </p:sp>
    </p:spTree>
    <p:extLst>
      <p:ext uri="{BB962C8B-B14F-4D97-AF65-F5344CB8AC3E}">
        <p14:creationId xmlns:p14="http://schemas.microsoft.com/office/powerpoint/2010/main" val="34216926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pic>
        <p:nvPicPr>
          <p:cNvPr id="4" name="Picture 3"/>
          <p:cNvPicPr>
            <a:picLocks noChangeAspect="1"/>
          </p:cNvPicPr>
          <p:nvPr/>
        </p:nvPicPr>
        <p:blipFill>
          <a:blip r:embed="rId2"/>
          <a:stretch>
            <a:fillRect/>
          </a:stretch>
        </p:blipFill>
        <p:spPr>
          <a:xfrm>
            <a:off x="539552" y="1254770"/>
            <a:ext cx="4761358" cy="5486598"/>
          </a:xfrm>
          <a:prstGeom prst="rect">
            <a:avLst/>
          </a:prstGeom>
        </p:spPr>
      </p:pic>
    </p:spTree>
    <p:extLst>
      <p:ext uri="{BB962C8B-B14F-4D97-AF65-F5344CB8AC3E}">
        <p14:creationId xmlns:p14="http://schemas.microsoft.com/office/powerpoint/2010/main" val="338551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7" name="TextBox 6"/>
          <p:cNvSpPr txBox="1"/>
          <p:nvPr/>
        </p:nvSpPr>
        <p:spPr>
          <a:xfrm>
            <a:off x="477455" y="908720"/>
            <a:ext cx="1306488" cy="400110"/>
          </a:xfrm>
          <a:prstGeom prst="rect">
            <a:avLst/>
          </a:prstGeom>
          <a:noFill/>
        </p:spPr>
        <p:txBody>
          <a:bodyPr wrap="square" rtlCol="0">
            <a:spAutoFit/>
          </a:bodyPr>
          <a:lstStyle/>
          <a:p>
            <a:r>
              <a:rPr lang="en-US" sz="2000" b="1" u="sng" dirty="0" smtClean="0">
                <a:solidFill>
                  <a:srgbClr val="FF0066"/>
                </a:solidFill>
              </a:rPr>
              <a:t>Output:</a:t>
            </a:r>
            <a:endParaRPr lang="en-US" dirty="0">
              <a:solidFill>
                <a:srgbClr val="FF0066"/>
              </a:solidFill>
            </a:endParaRPr>
          </a:p>
        </p:txBody>
      </p:sp>
      <p:pic>
        <p:nvPicPr>
          <p:cNvPr id="4" name="Picture 3"/>
          <p:cNvPicPr>
            <a:picLocks noChangeAspect="1"/>
          </p:cNvPicPr>
          <p:nvPr/>
        </p:nvPicPr>
        <p:blipFill>
          <a:blip r:embed="rId2"/>
          <a:stretch>
            <a:fillRect/>
          </a:stretch>
        </p:blipFill>
        <p:spPr>
          <a:xfrm>
            <a:off x="477455" y="1308830"/>
            <a:ext cx="4559243" cy="5431156"/>
          </a:xfrm>
          <a:prstGeom prst="rect">
            <a:avLst/>
          </a:prstGeom>
        </p:spPr>
      </p:pic>
    </p:spTree>
    <p:extLst>
      <p:ext uri="{BB962C8B-B14F-4D97-AF65-F5344CB8AC3E}">
        <p14:creationId xmlns:p14="http://schemas.microsoft.com/office/powerpoint/2010/main" val="185269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7467600" cy="508918"/>
          </a:xfrm>
        </p:spPr>
        <p:txBody>
          <a:bodyPr>
            <a:normAutofit fontScale="90000"/>
          </a:bodyPr>
          <a:lstStyle/>
          <a:p>
            <a:r>
              <a:rPr lang="en-US" b="1" dirty="0" smtClean="0">
                <a:solidFill>
                  <a:srgbClr val="7030A0"/>
                </a:solidFill>
              </a:rPr>
              <a:t>Types of </a:t>
            </a:r>
            <a:r>
              <a:rPr lang="en-US" b="1" dirty="0" err="1" smtClean="0">
                <a:solidFill>
                  <a:srgbClr val="7030A0"/>
                </a:solidFill>
              </a:rPr>
              <a:t>css</a:t>
            </a:r>
            <a:r>
              <a:rPr lang="en-US" b="1" dirty="0" smtClean="0">
                <a:solidFill>
                  <a:srgbClr val="7030A0"/>
                </a:solidFill>
              </a:rPr>
              <a:t> selector</a:t>
            </a:r>
            <a:endParaRPr lang="en-IN" b="1" dirty="0">
              <a:solidFill>
                <a:srgbClr val="7030A0"/>
              </a:solidFill>
            </a:endParaRPr>
          </a:p>
        </p:txBody>
      </p:sp>
      <p:sp>
        <p:nvSpPr>
          <p:cNvPr id="3" name="Content Placeholder 2"/>
          <p:cNvSpPr>
            <a:spLocks noGrp="1"/>
          </p:cNvSpPr>
          <p:nvPr>
            <p:ph sz="quarter" idx="1"/>
          </p:nvPr>
        </p:nvSpPr>
        <p:spPr>
          <a:xfrm>
            <a:off x="611560" y="980728"/>
            <a:ext cx="7560840" cy="5544616"/>
          </a:xfrm>
        </p:spPr>
        <p:txBody>
          <a:bodyPr>
            <a:normAutofit/>
          </a:bodyPr>
          <a:lstStyle/>
          <a:p>
            <a:pPr marL="0" indent="0" fontAlgn="base">
              <a:buNone/>
            </a:pPr>
            <a:r>
              <a:rPr lang="en-US" b="1" i="1" dirty="0" smtClean="0">
                <a:solidFill>
                  <a:srgbClr val="0000FF"/>
                </a:solidFill>
              </a:rPr>
              <a:t>10) </a:t>
            </a:r>
            <a:r>
              <a:rPr lang="en-IN" b="1" i="1" dirty="0" smtClean="0">
                <a:solidFill>
                  <a:srgbClr val="0000FF"/>
                </a:solidFill>
              </a:rPr>
              <a:t>Attribute Selectors</a:t>
            </a:r>
            <a:endParaRPr lang="en-IN" b="1" i="1" dirty="0">
              <a:solidFill>
                <a:srgbClr val="0000FF"/>
              </a:solidFill>
            </a:endParaRPr>
          </a:p>
          <a:p>
            <a:pPr>
              <a:buFont typeface="Arial" panose="020B0604020202020204" pitchFamily="34" charset="0"/>
              <a:buChar char="•"/>
            </a:pPr>
            <a:r>
              <a:rPr lang="en-US" dirty="0"/>
              <a:t>You can also apply styles to HTML elements with particular attributes.</a:t>
            </a:r>
            <a:endParaRPr lang="en-US" b="1" i="1" u="sng" dirty="0" smtClean="0">
              <a:solidFill>
                <a:srgbClr val="FF0000"/>
              </a:solidFill>
            </a:endParaRPr>
          </a:p>
          <a:p>
            <a:pPr marL="0" indent="0">
              <a:buNone/>
            </a:pPr>
            <a:endParaRPr lang="en-US" b="1" i="1" u="sng" dirty="0" smtClean="0">
              <a:solidFill>
                <a:srgbClr val="FF0000"/>
              </a:solidFill>
            </a:endParaRPr>
          </a:p>
          <a:p>
            <a:pPr marL="0" indent="0">
              <a:buNone/>
            </a:pPr>
            <a:r>
              <a:rPr lang="en-US" b="1" i="1" u="sng" dirty="0" smtClean="0">
                <a:solidFill>
                  <a:srgbClr val="FF0000"/>
                </a:solidFill>
              </a:rPr>
              <a:t>Syntax:</a:t>
            </a:r>
          </a:p>
          <a:p>
            <a:pPr marL="0" indent="0">
              <a:buNone/>
            </a:pPr>
            <a:r>
              <a:rPr lang="en-US" dirty="0" err="1" smtClean="0"/>
              <a:t>Element_name</a:t>
            </a:r>
            <a:r>
              <a:rPr lang="en-US" dirty="0" smtClean="0"/>
              <a:t>[</a:t>
            </a:r>
            <a:r>
              <a:rPr lang="en-US" dirty="0" err="1" smtClean="0"/>
              <a:t>attribute_name</a:t>
            </a:r>
            <a:r>
              <a:rPr lang="en-US" dirty="0" smtClean="0"/>
              <a:t>=“value”]</a:t>
            </a:r>
          </a:p>
          <a:p>
            <a:pPr marL="0" indent="0">
              <a:buNone/>
            </a:pPr>
            <a:r>
              <a:rPr lang="en-US" dirty="0" smtClean="0"/>
              <a:t>{</a:t>
            </a:r>
          </a:p>
          <a:p>
            <a:pPr marL="0" indent="0">
              <a:buNone/>
            </a:pPr>
            <a:r>
              <a:rPr lang="en-US" dirty="0"/>
              <a:t>	</a:t>
            </a:r>
            <a:r>
              <a:rPr lang="en-US" dirty="0" smtClean="0"/>
              <a:t>property </a:t>
            </a:r>
            <a:r>
              <a:rPr lang="en-US" dirty="0" err="1" smtClean="0"/>
              <a:t>name:value</a:t>
            </a:r>
            <a:r>
              <a:rPr lang="en-US" dirty="0" smtClean="0"/>
              <a:t>;</a:t>
            </a:r>
          </a:p>
          <a:p>
            <a:pPr marL="0" indent="0">
              <a:buNone/>
            </a:pPr>
            <a:r>
              <a:rPr lang="en-US" dirty="0" smtClean="0"/>
              <a:t>}</a:t>
            </a:r>
          </a:p>
          <a:p>
            <a:pPr marL="0" indent="0">
              <a:buNone/>
            </a:pPr>
            <a:endParaRPr lang="en-US" sz="1300" dirty="0" smtClean="0"/>
          </a:p>
          <a:p>
            <a:pPr marL="0" indent="0">
              <a:buNone/>
            </a:pPr>
            <a:endParaRPr lang="en-IN" dirty="0"/>
          </a:p>
        </p:txBody>
      </p:sp>
    </p:spTree>
    <p:extLst>
      <p:ext uri="{BB962C8B-B14F-4D97-AF65-F5344CB8AC3E}">
        <p14:creationId xmlns:p14="http://schemas.microsoft.com/office/powerpoint/2010/main" val="30477109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pic>
        <p:nvPicPr>
          <p:cNvPr id="3" name="Picture 2"/>
          <p:cNvPicPr>
            <a:picLocks noChangeAspect="1"/>
          </p:cNvPicPr>
          <p:nvPr/>
        </p:nvPicPr>
        <p:blipFill>
          <a:blip r:embed="rId2"/>
          <a:stretch>
            <a:fillRect/>
          </a:stretch>
        </p:blipFill>
        <p:spPr>
          <a:xfrm>
            <a:off x="485086" y="1254770"/>
            <a:ext cx="6278349" cy="5342582"/>
          </a:xfrm>
          <a:prstGeom prst="rect">
            <a:avLst/>
          </a:prstGeom>
        </p:spPr>
      </p:pic>
    </p:spTree>
    <p:extLst>
      <p:ext uri="{BB962C8B-B14F-4D97-AF65-F5344CB8AC3E}">
        <p14:creationId xmlns:p14="http://schemas.microsoft.com/office/powerpoint/2010/main" val="490277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7" name="TextBox 6"/>
          <p:cNvSpPr txBox="1"/>
          <p:nvPr/>
        </p:nvSpPr>
        <p:spPr>
          <a:xfrm>
            <a:off x="477455" y="908720"/>
            <a:ext cx="1306488" cy="400110"/>
          </a:xfrm>
          <a:prstGeom prst="rect">
            <a:avLst/>
          </a:prstGeom>
          <a:noFill/>
        </p:spPr>
        <p:txBody>
          <a:bodyPr wrap="square" rtlCol="0">
            <a:spAutoFit/>
          </a:bodyPr>
          <a:lstStyle/>
          <a:p>
            <a:r>
              <a:rPr lang="en-US" sz="2000" b="1" u="sng" dirty="0" smtClean="0">
                <a:solidFill>
                  <a:srgbClr val="FF0066"/>
                </a:solidFill>
              </a:rPr>
              <a:t>Output:</a:t>
            </a:r>
            <a:endParaRPr lang="en-US" dirty="0">
              <a:solidFill>
                <a:srgbClr val="FF0066"/>
              </a:solidFill>
            </a:endParaRPr>
          </a:p>
        </p:txBody>
      </p:sp>
      <p:pic>
        <p:nvPicPr>
          <p:cNvPr id="3" name="Picture 2"/>
          <p:cNvPicPr>
            <a:picLocks noChangeAspect="1"/>
          </p:cNvPicPr>
          <p:nvPr/>
        </p:nvPicPr>
        <p:blipFill>
          <a:blip r:embed="rId2"/>
          <a:stretch>
            <a:fillRect/>
          </a:stretch>
        </p:blipFill>
        <p:spPr>
          <a:xfrm>
            <a:off x="477455" y="1449685"/>
            <a:ext cx="7535327" cy="4582164"/>
          </a:xfrm>
          <a:prstGeom prst="rect">
            <a:avLst/>
          </a:prstGeom>
        </p:spPr>
      </p:pic>
    </p:spTree>
    <p:extLst>
      <p:ext uri="{BB962C8B-B14F-4D97-AF65-F5344CB8AC3E}">
        <p14:creationId xmlns:p14="http://schemas.microsoft.com/office/powerpoint/2010/main" val="1224366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Css box model</a:t>
            </a:r>
            <a:endParaRPr lang="en-IN" b="1" dirty="0">
              <a:solidFill>
                <a:srgbClr val="7030A0"/>
              </a:solidFill>
            </a:endParaRPr>
          </a:p>
        </p:txBody>
      </p:sp>
      <p:sp>
        <p:nvSpPr>
          <p:cNvPr id="3" name="Content Placeholder 2"/>
          <p:cNvSpPr>
            <a:spLocks noGrp="1"/>
          </p:cNvSpPr>
          <p:nvPr>
            <p:ph sz="quarter" idx="1"/>
          </p:nvPr>
        </p:nvSpPr>
        <p:spPr>
          <a:xfrm>
            <a:off x="539552" y="908720"/>
            <a:ext cx="7776864" cy="4873752"/>
          </a:xfrm>
        </p:spPr>
        <p:txBody>
          <a:bodyPr/>
          <a:lstStyle/>
          <a:p>
            <a:r>
              <a:rPr lang="en-US" dirty="0"/>
              <a:t>The CSS box model is essentially a box that wraps around every HTML element. It consists of: </a:t>
            </a:r>
            <a:r>
              <a:rPr lang="en-US" dirty="0">
                <a:solidFill>
                  <a:srgbClr val="CC00FF"/>
                </a:solidFill>
              </a:rPr>
              <a:t>margins, borders, padding,</a:t>
            </a:r>
            <a:r>
              <a:rPr lang="en-US" dirty="0"/>
              <a:t> and the actual </a:t>
            </a:r>
            <a:r>
              <a:rPr lang="en-US" dirty="0">
                <a:solidFill>
                  <a:srgbClr val="CC00FF"/>
                </a:solidFill>
              </a:rPr>
              <a:t>content</a:t>
            </a:r>
            <a:r>
              <a:rPr lang="en-US" dirty="0"/>
              <a:t>. The image below illustrates the box </a:t>
            </a:r>
            <a:r>
              <a:rPr lang="en-US" dirty="0" smtClean="0"/>
              <a:t>model.</a:t>
            </a:r>
            <a:endParaRPr lang="en-IN" dirty="0"/>
          </a:p>
        </p:txBody>
      </p:sp>
      <p:pic>
        <p:nvPicPr>
          <p:cNvPr id="5" name="Picture 4"/>
          <p:cNvPicPr>
            <a:picLocks noChangeAspect="1"/>
          </p:cNvPicPr>
          <p:nvPr/>
        </p:nvPicPr>
        <p:blipFill>
          <a:blip r:embed="rId2"/>
          <a:stretch>
            <a:fillRect/>
          </a:stretch>
        </p:blipFill>
        <p:spPr>
          <a:xfrm>
            <a:off x="1907704" y="2636912"/>
            <a:ext cx="4873626" cy="4072428"/>
          </a:xfrm>
          <a:prstGeom prst="rect">
            <a:avLst/>
          </a:prstGeom>
        </p:spPr>
      </p:pic>
    </p:spTree>
    <p:extLst>
      <p:ext uri="{BB962C8B-B14F-4D97-AF65-F5344CB8AC3E}">
        <p14:creationId xmlns:p14="http://schemas.microsoft.com/office/powerpoint/2010/main" val="39778929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Css box model</a:t>
            </a:r>
            <a:endParaRPr lang="en-IN" b="1" dirty="0">
              <a:solidFill>
                <a:srgbClr val="7030A0"/>
              </a:solidFill>
            </a:endParaRPr>
          </a:p>
        </p:txBody>
      </p:sp>
      <p:sp>
        <p:nvSpPr>
          <p:cNvPr id="3" name="Content Placeholder 2"/>
          <p:cNvSpPr>
            <a:spLocks noGrp="1"/>
          </p:cNvSpPr>
          <p:nvPr>
            <p:ph sz="quarter" idx="1"/>
          </p:nvPr>
        </p:nvSpPr>
        <p:spPr>
          <a:xfrm>
            <a:off x="539552" y="908720"/>
            <a:ext cx="7776864" cy="4873752"/>
          </a:xfrm>
        </p:spPr>
        <p:txBody>
          <a:bodyPr/>
          <a:lstStyle/>
          <a:p>
            <a:r>
              <a:rPr lang="en-US" dirty="0"/>
              <a:t>Explanation of the different parts:</a:t>
            </a:r>
          </a:p>
          <a:p>
            <a:pPr marL="0" indent="0">
              <a:buNone/>
            </a:pPr>
            <a:r>
              <a:rPr lang="en-US" b="1" dirty="0" smtClean="0">
                <a:solidFill>
                  <a:srgbClr val="CC00FF"/>
                </a:solidFill>
              </a:rPr>
              <a:t>1) Content</a:t>
            </a:r>
            <a:r>
              <a:rPr lang="en-US" dirty="0"/>
              <a:t> - The content of the box, where text and images appear</a:t>
            </a:r>
          </a:p>
          <a:p>
            <a:pPr marL="0" indent="0">
              <a:buNone/>
            </a:pPr>
            <a:r>
              <a:rPr lang="en-US" b="1" dirty="0" smtClean="0">
                <a:solidFill>
                  <a:srgbClr val="CC00FF"/>
                </a:solidFill>
              </a:rPr>
              <a:t>2) Padding</a:t>
            </a:r>
            <a:r>
              <a:rPr lang="en-US" dirty="0"/>
              <a:t> - Clears an area around the content. The padding is </a:t>
            </a:r>
            <a:r>
              <a:rPr lang="en-US" dirty="0" smtClean="0"/>
              <a:t>transparent.</a:t>
            </a:r>
            <a:r>
              <a:rPr lang="en-US" dirty="0"/>
              <a:t> </a:t>
            </a:r>
            <a:r>
              <a:rPr lang="en-US" dirty="0" smtClean="0"/>
              <a:t>space </a:t>
            </a:r>
            <a:r>
              <a:rPr lang="en-US" dirty="0"/>
              <a:t>between the element's content and its </a:t>
            </a:r>
            <a:r>
              <a:rPr lang="en-US" dirty="0" smtClean="0"/>
              <a:t>border.</a:t>
            </a:r>
            <a:endParaRPr lang="en-US" dirty="0"/>
          </a:p>
          <a:p>
            <a:pPr marL="0" indent="0">
              <a:buNone/>
            </a:pPr>
            <a:r>
              <a:rPr lang="en-US" b="1" dirty="0" smtClean="0">
                <a:solidFill>
                  <a:srgbClr val="CC00FF"/>
                </a:solidFill>
              </a:rPr>
              <a:t>3) Border</a:t>
            </a:r>
            <a:r>
              <a:rPr lang="en-US" dirty="0"/>
              <a:t> - A border that goes around the padding and content</a:t>
            </a:r>
          </a:p>
          <a:p>
            <a:pPr marL="0" indent="0">
              <a:buNone/>
            </a:pPr>
            <a:r>
              <a:rPr lang="en-US" b="1" dirty="0" smtClean="0">
                <a:solidFill>
                  <a:srgbClr val="CC00FF"/>
                </a:solidFill>
              </a:rPr>
              <a:t>4) Margin</a:t>
            </a:r>
            <a:r>
              <a:rPr lang="en-US" dirty="0"/>
              <a:t> - Clears an area outside the border. The margin is </a:t>
            </a:r>
            <a:r>
              <a:rPr lang="en-US" dirty="0" smtClean="0"/>
              <a:t>transparent.</a:t>
            </a:r>
            <a:endParaRPr lang="en-US" dirty="0"/>
          </a:p>
          <a:p>
            <a:r>
              <a:rPr lang="en-US" dirty="0"/>
              <a:t>The box model allows us to add a border around elements, and to define space between elements. </a:t>
            </a:r>
          </a:p>
        </p:txBody>
      </p:sp>
    </p:spTree>
    <p:extLst>
      <p:ext uri="{BB962C8B-B14F-4D97-AF65-F5344CB8AC3E}">
        <p14:creationId xmlns:p14="http://schemas.microsoft.com/office/powerpoint/2010/main" val="14639483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Css box model</a:t>
            </a:r>
            <a:endParaRPr lang="en-IN" b="1" dirty="0">
              <a:solidFill>
                <a:srgbClr val="7030A0"/>
              </a:solidFill>
            </a:endParaRPr>
          </a:p>
        </p:txBody>
      </p:sp>
      <p:sp>
        <p:nvSpPr>
          <p:cNvPr id="3" name="Content Placeholder 2"/>
          <p:cNvSpPr>
            <a:spLocks noGrp="1"/>
          </p:cNvSpPr>
          <p:nvPr>
            <p:ph sz="quarter" idx="1"/>
          </p:nvPr>
        </p:nvSpPr>
        <p:spPr>
          <a:xfrm>
            <a:off x="539552" y="908720"/>
            <a:ext cx="7776864" cy="4873752"/>
          </a:xfrm>
        </p:spPr>
        <p:txBody>
          <a:bodyPr/>
          <a:lstStyle/>
          <a:p>
            <a:r>
              <a:rPr lang="en-US" dirty="0"/>
              <a:t>When you set the width and height properties of an element with CSS, you just set the width and height of the </a:t>
            </a:r>
            <a:r>
              <a:rPr lang="en-US" b="1" dirty="0"/>
              <a:t>content area</a:t>
            </a:r>
            <a:r>
              <a:rPr lang="en-US" dirty="0"/>
              <a:t>. To calculate the full size of an element, you must also add padding, borders and margins.</a:t>
            </a:r>
            <a:endParaRPr lang="en-IN" dirty="0"/>
          </a:p>
        </p:txBody>
      </p:sp>
      <p:pic>
        <p:nvPicPr>
          <p:cNvPr id="4" name="Picture 3"/>
          <p:cNvPicPr>
            <a:picLocks noChangeAspect="1"/>
          </p:cNvPicPr>
          <p:nvPr/>
        </p:nvPicPr>
        <p:blipFill>
          <a:blip r:embed="rId2"/>
          <a:stretch>
            <a:fillRect/>
          </a:stretch>
        </p:blipFill>
        <p:spPr>
          <a:xfrm>
            <a:off x="2138772" y="2801760"/>
            <a:ext cx="4104456" cy="4043842"/>
          </a:xfrm>
          <a:prstGeom prst="rect">
            <a:avLst/>
          </a:prstGeom>
        </p:spPr>
      </p:pic>
    </p:spTree>
    <p:extLst>
      <p:ext uri="{BB962C8B-B14F-4D97-AF65-F5344CB8AC3E}">
        <p14:creationId xmlns:p14="http://schemas.microsoft.com/office/powerpoint/2010/main" val="30173266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Css box model</a:t>
            </a:r>
            <a:endParaRPr lang="en-IN" b="1" dirty="0">
              <a:solidFill>
                <a:srgbClr val="7030A0"/>
              </a:solidFill>
            </a:endParaRPr>
          </a:p>
        </p:txBody>
      </p:sp>
      <p:sp>
        <p:nvSpPr>
          <p:cNvPr id="3" name="Content Placeholder 2"/>
          <p:cNvSpPr>
            <a:spLocks noGrp="1"/>
          </p:cNvSpPr>
          <p:nvPr>
            <p:ph sz="quarter" idx="1"/>
          </p:nvPr>
        </p:nvSpPr>
        <p:spPr>
          <a:xfrm>
            <a:off x="611560" y="795969"/>
            <a:ext cx="7776864" cy="4873752"/>
          </a:xfrm>
        </p:spPr>
        <p:txBody>
          <a:bodyPr/>
          <a:lstStyle/>
          <a:p>
            <a:r>
              <a:rPr lang="en-US" dirty="0"/>
              <a:t>The total </a:t>
            </a:r>
            <a:r>
              <a:rPr lang="en-US" dirty="0" smtClean="0"/>
              <a:t>width &amp; height of </a:t>
            </a:r>
            <a:r>
              <a:rPr lang="en-US" dirty="0"/>
              <a:t>an element should be calculated like this</a:t>
            </a:r>
            <a:r>
              <a:rPr lang="en-US" dirty="0" smtClean="0"/>
              <a:t>:</a:t>
            </a:r>
          </a:p>
          <a:p>
            <a:pPr marL="0" indent="0">
              <a:buNone/>
            </a:pPr>
            <a:endParaRPr lang="en-US" dirty="0"/>
          </a:p>
          <a:p>
            <a:r>
              <a:rPr lang="en-US" dirty="0">
                <a:solidFill>
                  <a:srgbClr val="FF0066"/>
                </a:solidFill>
              </a:rPr>
              <a:t>Total element width </a:t>
            </a:r>
            <a:r>
              <a:rPr lang="en-US" dirty="0"/>
              <a:t>= </a:t>
            </a:r>
            <a:endParaRPr lang="en-US" dirty="0" smtClean="0"/>
          </a:p>
          <a:p>
            <a:pPr marL="0" indent="0">
              <a:buNone/>
            </a:pPr>
            <a:r>
              <a:rPr lang="en-US" dirty="0" smtClean="0"/>
              <a:t>width </a:t>
            </a:r>
            <a:r>
              <a:rPr lang="en-US" dirty="0"/>
              <a:t>+ left padding + right padding + left border + right border + left margin + right </a:t>
            </a:r>
            <a:r>
              <a:rPr lang="en-US" dirty="0" smtClean="0"/>
              <a:t>margin</a:t>
            </a:r>
          </a:p>
          <a:p>
            <a:pPr marL="0" indent="0">
              <a:buNone/>
            </a:pPr>
            <a:endParaRPr lang="en-US" dirty="0"/>
          </a:p>
          <a:p>
            <a:r>
              <a:rPr lang="en-US" dirty="0" smtClean="0">
                <a:solidFill>
                  <a:srgbClr val="FF0066"/>
                </a:solidFill>
              </a:rPr>
              <a:t>Total </a:t>
            </a:r>
            <a:r>
              <a:rPr lang="en-US" dirty="0">
                <a:solidFill>
                  <a:srgbClr val="FF0066"/>
                </a:solidFill>
              </a:rPr>
              <a:t>element height </a:t>
            </a:r>
            <a:r>
              <a:rPr lang="en-US" dirty="0" smtClean="0"/>
              <a:t>=</a:t>
            </a:r>
          </a:p>
          <a:p>
            <a:pPr marL="0" indent="0">
              <a:buNone/>
            </a:pPr>
            <a:r>
              <a:rPr lang="en-US" dirty="0" smtClean="0"/>
              <a:t> </a:t>
            </a:r>
            <a:r>
              <a:rPr lang="en-US" dirty="0"/>
              <a:t>height + top padding + bottom padding + top border + bottom border + top margin + bottom margin</a:t>
            </a:r>
          </a:p>
        </p:txBody>
      </p:sp>
    </p:spTree>
    <p:extLst>
      <p:ext uri="{BB962C8B-B14F-4D97-AF65-F5344CB8AC3E}">
        <p14:creationId xmlns:p14="http://schemas.microsoft.com/office/powerpoint/2010/main" val="36250028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pic>
        <p:nvPicPr>
          <p:cNvPr id="4" name="Picture 3"/>
          <p:cNvPicPr>
            <a:picLocks noChangeAspect="1"/>
          </p:cNvPicPr>
          <p:nvPr/>
        </p:nvPicPr>
        <p:blipFill>
          <a:blip r:embed="rId2"/>
          <a:stretch>
            <a:fillRect/>
          </a:stretch>
        </p:blipFill>
        <p:spPr>
          <a:xfrm>
            <a:off x="539552" y="1254770"/>
            <a:ext cx="7450298" cy="5270574"/>
          </a:xfrm>
          <a:prstGeom prst="rect">
            <a:avLst/>
          </a:prstGeom>
        </p:spPr>
      </p:pic>
    </p:spTree>
    <p:extLst>
      <p:ext uri="{BB962C8B-B14F-4D97-AF65-F5344CB8AC3E}">
        <p14:creationId xmlns:p14="http://schemas.microsoft.com/office/powerpoint/2010/main" val="4270966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7" name="TextBox 6"/>
          <p:cNvSpPr txBox="1"/>
          <p:nvPr/>
        </p:nvSpPr>
        <p:spPr>
          <a:xfrm>
            <a:off x="477455" y="908720"/>
            <a:ext cx="1306488" cy="400110"/>
          </a:xfrm>
          <a:prstGeom prst="rect">
            <a:avLst/>
          </a:prstGeom>
          <a:noFill/>
        </p:spPr>
        <p:txBody>
          <a:bodyPr wrap="square" rtlCol="0">
            <a:spAutoFit/>
          </a:bodyPr>
          <a:lstStyle/>
          <a:p>
            <a:r>
              <a:rPr lang="en-US" sz="2000" b="1" u="sng" dirty="0" smtClean="0">
                <a:solidFill>
                  <a:srgbClr val="FF0066"/>
                </a:solidFill>
              </a:rPr>
              <a:t>Output:</a:t>
            </a:r>
            <a:endParaRPr lang="en-US" dirty="0">
              <a:solidFill>
                <a:srgbClr val="FF0066"/>
              </a:solidFill>
            </a:endParaRPr>
          </a:p>
        </p:txBody>
      </p:sp>
      <p:pic>
        <p:nvPicPr>
          <p:cNvPr id="4" name="Picture 3"/>
          <p:cNvPicPr>
            <a:picLocks noChangeAspect="1"/>
          </p:cNvPicPr>
          <p:nvPr/>
        </p:nvPicPr>
        <p:blipFill>
          <a:blip r:embed="rId2"/>
          <a:stretch>
            <a:fillRect/>
          </a:stretch>
        </p:blipFill>
        <p:spPr>
          <a:xfrm>
            <a:off x="179512" y="1452846"/>
            <a:ext cx="8424936" cy="3776354"/>
          </a:xfrm>
          <a:prstGeom prst="rect">
            <a:avLst/>
          </a:prstGeom>
        </p:spPr>
      </p:pic>
    </p:spTree>
    <p:extLst>
      <p:ext uri="{BB962C8B-B14F-4D97-AF65-F5344CB8AC3E}">
        <p14:creationId xmlns:p14="http://schemas.microsoft.com/office/powerpoint/2010/main" val="4169947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Css box model</a:t>
            </a:r>
            <a:endParaRPr lang="en-IN" b="1" dirty="0">
              <a:solidFill>
                <a:srgbClr val="7030A0"/>
              </a:solidFill>
            </a:endParaRPr>
          </a:p>
        </p:txBody>
      </p:sp>
      <p:sp>
        <p:nvSpPr>
          <p:cNvPr id="3" name="Content Placeholder 2"/>
          <p:cNvSpPr>
            <a:spLocks noGrp="1"/>
          </p:cNvSpPr>
          <p:nvPr>
            <p:ph sz="quarter" idx="1"/>
          </p:nvPr>
        </p:nvSpPr>
        <p:spPr>
          <a:xfrm>
            <a:off x="611560" y="795969"/>
            <a:ext cx="7776864" cy="4873752"/>
          </a:xfrm>
        </p:spPr>
        <p:txBody>
          <a:bodyPr/>
          <a:lstStyle/>
          <a:p>
            <a:r>
              <a:rPr lang="en-US" dirty="0"/>
              <a:t>The thickness of the padding is determined by the padding-top, padding-right, padding-bottom, padding-left, and shorthand padding properties</a:t>
            </a:r>
            <a:r>
              <a:rPr lang="en-US" dirty="0" smtClean="0"/>
              <a:t>.</a:t>
            </a:r>
          </a:p>
          <a:p>
            <a:pPr marL="0" indent="0">
              <a:buNone/>
            </a:pPr>
            <a:endParaRPr lang="en-US" dirty="0" smtClean="0"/>
          </a:p>
          <a:p>
            <a:endParaRPr lang="en-US" dirty="0"/>
          </a:p>
          <a:p>
            <a:r>
              <a:rPr lang="en-US" dirty="0" smtClean="0"/>
              <a:t>The </a:t>
            </a:r>
            <a:r>
              <a:rPr lang="en-US" dirty="0"/>
              <a:t>size of the margin area is determined by the margin-top, margin-right, margin-bottom, margin-left, and shorthand margin </a:t>
            </a:r>
            <a:r>
              <a:rPr lang="en-US" dirty="0" smtClean="0"/>
              <a:t>properties.</a:t>
            </a:r>
            <a:endParaRPr lang="en-US" dirty="0"/>
          </a:p>
        </p:txBody>
      </p:sp>
    </p:spTree>
    <p:extLst>
      <p:ext uri="{BB962C8B-B14F-4D97-AF65-F5344CB8AC3E}">
        <p14:creationId xmlns:p14="http://schemas.microsoft.com/office/powerpoint/2010/main" val="30610449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IN" b="1" dirty="0">
                <a:solidFill>
                  <a:srgbClr val="7030A0"/>
                </a:solidFill>
              </a:rPr>
              <a:t>Cascade &amp; inheritance</a:t>
            </a:r>
          </a:p>
        </p:txBody>
      </p:sp>
      <p:sp>
        <p:nvSpPr>
          <p:cNvPr id="3" name="Content Placeholder 2"/>
          <p:cNvSpPr>
            <a:spLocks noGrp="1"/>
          </p:cNvSpPr>
          <p:nvPr>
            <p:ph sz="quarter" idx="1"/>
          </p:nvPr>
        </p:nvSpPr>
        <p:spPr>
          <a:xfrm>
            <a:off x="611560" y="795969"/>
            <a:ext cx="7776864" cy="4873752"/>
          </a:xfrm>
        </p:spPr>
        <p:txBody>
          <a:bodyPr/>
          <a:lstStyle/>
          <a:p>
            <a:r>
              <a:rPr lang="en-US" b="1" dirty="0" smtClean="0">
                <a:solidFill>
                  <a:srgbClr val="0000FF"/>
                </a:solidFill>
              </a:rPr>
              <a:t>Cascading</a:t>
            </a:r>
            <a:r>
              <a:rPr lang="en-US" dirty="0" smtClean="0"/>
              <a:t> </a:t>
            </a:r>
            <a:r>
              <a:rPr lang="en-US" dirty="0"/>
              <a:t>in CSS means the styling rules. This is the part where CSS can become unnecessarily complicated, even if the ability to use the cascading is occasionally useful</a:t>
            </a:r>
            <a:r>
              <a:rPr lang="en-US" dirty="0" smtClean="0"/>
              <a:t>.</a:t>
            </a:r>
          </a:p>
          <a:p>
            <a:r>
              <a:rPr lang="en-US" dirty="0">
                <a:solidFill>
                  <a:srgbClr val="FF0000"/>
                </a:solidFill>
              </a:rPr>
              <a:t>What if you have two CSS classes that have conflicting </a:t>
            </a:r>
            <a:r>
              <a:rPr lang="en-US" dirty="0" smtClean="0">
                <a:solidFill>
                  <a:srgbClr val="FF0000"/>
                </a:solidFill>
              </a:rPr>
              <a:t>properties</a:t>
            </a:r>
            <a:r>
              <a:rPr lang="en-US" dirty="0">
                <a:solidFill>
                  <a:srgbClr val="FF0000"/>
                </a:solidFill>
              </a:rPr>
              <a:t>?” Which </a:t>
            </a:r>
            <a:r>
              <a:rPr lang="en-US" dirty="0" smtClean="0">
                <a:solidFill>
                  <a:srgbClr val="FF0000"/>
                </a:solidFill>
              </a:rPr>
              <a:t>one </a:t>
            </a:r>
            <a:r>
              <a:rPr lang="en-US" dirty="0">
                <a:solidFill>
                  <a:srgbClr val="FF0000"/>
                </a:solidFill>
              </a:rPr>
              <a:t>is applied?</a:t>
            </a:r>
            <a:endParaRPr lang="en-US" dirty="0" smtClean="0">
              <a:solidFill>
                <a:srgbClr val="FF0000"/>
              </a:solidFill>
            </a:endParaRPr>
          </a:p>
        </p:txBody>
      </p:sp>
    </p:spTree>
    <p:extLst>
      <p:ext uri="{BB962C8B-B14F-4D97-AF65-F5344CB8AC3E}">
        <p14:creationId xmlns:p14="http://schemas.microsoft.com/office/powerpoint/2010/main" val="6360918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pic>
        <p:nvPicPr>
          <p:cNvPr id="5" name="Picture 4"/>
          <p:cNvPicPr>
            <a:picLocks noChangeAspect="1"/>
          </p:cNvPicPr>
          <p:nvPr/>
        </p:nvPicPr>
        <p:blipFill>
          <a:blip r:embed="rId2"/>
          <a:stretch>
            <a:fillRect/>
          </a:stretch>
        </p:blipFill>
        <p:spPr>
          <a:xfrm>
            <a:off x="539552" y="1254770"/>
            <a:ext cx="7533946" cy="4651887"/>
          </a:xfrm>
          <a:prstGeom prst="rect">
            <a:avLst/>
          </a:prstGeom>
        </p:spPr>
      </p:pic>
    </p:spTree>
    <p:extLst>
      <p:ext uri="{BB962C8B-B14F-4D97-AF65-F5344CB8AC3E}">
        <p14:creationId xmlns:p14="http://schemas.microsoft.com/office/powerpoint/2010/main" val="3936046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7" name="TextBox 6"/>
          <p:cNvSpPr txBox="1"/>
          <p:nvPr/>
        </p:nvSpPr>
        <p:spPr>
          <a:xfrm>
            <a:off x="477455" y="908720"/>
            <a:ext cx="1306488" cy="400110"/>
          </a:xfrm>
          <a:prstGeom prst="rect">
            <a:avLst/>
          </a:prstGeom>
          <a:noFill/>
        </p:spPr>
        <p:txBody>
          <a:bodyPr wrap="square" rtlCol="0">
            <a:spAutoFit/>
          </a:bodyPr>
          <a:lstStyle/>
          <a:p>
            <a:r>
              <a:rPr lang="en-US" sz="2000" b="1" u="sng" dirty="0" smtClean="0">
                <a:solidFill>
                  <a:srgbClr val="FF0066"/>
                </a:solidFill>
              </a:rPr>
              <a:t>Output:</a:t>
            </a:r>
            <a:endParaRPr lang="en-US" dirty="0">
              <a:solidFill>
                <a:srgbClr val="FF0066"/>
              </a:solidFill>
            </a:endParaRPr>
          </a:p>
        </p:txBody>
      </p:sp>
      <p:sp>
        <p:nvSpPr>
          <p:cNvPr id="5" name="Rectangle 4"/>
          <p:cNvSpPr/>
          <p:nvPr/>
        </p:nvSpPr>
        <p:spPr>
          <a:xfrm>
            <a:off x="333477" y="4581128"/>
            <a:ext cx="7601272" cy="1754326"/>
          </a:xfrm>
          <a:prstGeom prst="rect">
            <a:avLst/>
          </a:prstGeom>
        </p:spPr>
        <p:txBody>
          <a:bodyPr wrap="square">
            <a:spAutoFit/>
          </a:bodyPr>
          <a:lstStyle/>
          <a:p>
            <a:pPr marL="342900" indent="-342900">
              <a:buFont typeface="Arial" panose="020B0604020202020204" pitchFamily="34" charset="0"/>
              <a:buChar char="•"/>
            </a:pPr>
            <a:r>
              <a:rPr lang="en-US" dirty="0" smtClean="0"/>
              <a:t>In above example, we </a:t>
            </a:r>
            <a:r>
              <a:rPr lang="en-US" dirty="0"/>
              <a:t>have two color properties with the same </a:t>
            </a:r>
            <a:r>
              <a:rPr lang="en-US" dirty="0" smtClean="0"/>
              <a:t>&lt;</a:t>
            </a:r>
            <a:r>
              <a:rPr lang="en-US" i="1" dirty="0" smtClean="0"/>
              <a:t>p&gt;</a:t>
            </a:r>
            <a:r>
              <a:rPr lang="en-US" i="1" dirty="0"/>
              <a:t> </a:t>
            </a:r>
            <a:r>
              <a:rPr lang="en-US" dirty="0"/>
              <a:t>tag. So which one gets applied? Here comes the role of C in CSS, Since they’re equal, the one that comes last wins. So in this case, the </a:t>
            </a:r>
            <a:r>
              <a:rPr lang="en-US" dirty="0" smtClean="0"/>
              <a:t>&lt;p&gt; </a:t>
            </a:r>
            <a:r>
              <a:rPr lang="en-US" dirty="0"/>
              <a:t>would be </a:t>
            </a:r>
            <a:r>
              <a:rPr lang="en-US" dirty="0" smtClean="0"/>
              <a:t>red. </a:t>
            </a:r>
          </a:p>
          <a:p>
            <a:pPr marL="342900" indent="-342900">
              <a:buFont typeface="Arial" panose="020B0604020202020204" pitchFamily="34" charset="0"/>
              <a:buChar char="•"/>
            </a:pPr>
            <a:r>
              <a:rPr lang="en-US" dirty="0" smtClean="0"/>
              <a:t>So </a:t>
            </a:r>
            <a:r>
              <a:rPr lang="en-US" dirty="0"/>
              <a:t>remember the rule: </a:t>
            </a:r>
            <a:r>
              <a:rPr lang="en-US" b="1" dirty="0"/>
              <a:t>when everything is equal, the last one gets applied.</a:t>
            </a:r>
            <a:endParaRPr lang="en-US" sz="2000" dirty="0"/>
          </a:p>
        </p:txBody>
      </p:sp>
      <p:sp>
        <p:nvSpPr>
          <p:cNvPr id="8" name="TextBox 7"/>
          <p:cNvSpPr txBox="1"/>
          <p:nvPr/>
        </p:nvSpPr>
        <p:spPr>
          <a:xfrm>
            <a:off x="390220" y="4005064"/>
            <a:ext cx="1306488" cy="400110"/>
          </a:xfrm>
          <a:prstGeom prst="rect">
            <a:avLst/>
          </a:prstGeom>
          <a:noFill/>
        </p:spPr>
        <p:txBody>
          <a:bodyPr wrap="square" rtlCol="0">
            <a:spAutoFit/>
          </a:bodyPr>
          <a:lstStyle/>
          <a:p>
            <a:r>
              <a:rPr lang="en-US" sz="2000" b="1" u="sng" dirty="0" smtClean="0">
                <a:solidFill>
                  <a:srgbClr val="FF0066"/>
                </a:solidFill>
              </a:rPr>
              <a:t>Note:</a:t>
            </a:r>
            <a:endParaRPr lang="en-US" dirty="0">
              <a:solidFill>
                <a:srgbClr val="FF0066"/>
              </a:solidFill>
            </a:endParaRPr>
          </a:p>
        </p:txBody>
      </p:sp>
      <p:pic>
        <p:nvPicPr>
          <p:cNvPr id="6" name="Picture 5"/>
          <p:cNvPicPr>
            <a:picLocks noChangeAspect="1"/>
          </p:cNvPicPr>
          <p:nvPr/>
        </p:nvPicPr>
        <p:blipFill>
          <a:blip r:embed="rId2"/>
          <a:stretch>
            <a:fillRect/>
          </a:stretch>
        </p:blipFill>
        <p:spPr>
          <a:xfrm>
            <a:off x="508395" y="1484784"/>
            <a:ext cx="8206376" cy="1251975"/>
          </a:xfrm>
          <a:prstGeom prst="rect">
            <a:avLst/>
          </a:prstGeom>
        </p:spPr>
      </p:pic>
    </p:spTree>
    <p:extLst>
      <p:ext uri="{BB962C8B-B14F-4D97-AF65-F5344CB8AC3E}">
        <p14:creationId xmlns:p14="http://schemas.microsoft.com/office/powerpoint/2010/main" val="3570366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IN" b="1" dirty="0">
                <a:solidFill>
                  <a:srgbClr val="7030A0"/>
                </a:solidFill>
              </a:rPr>
              <a:t>Cascade &amp; inheritance</a:t>
            </a:r>
          </a:p>
        </p:txBody>
      </p:sp>
      <p:sp>
        <p:nvSpPr>
          <p:cNvPr id="3" name="Content Placeholder 2"/>
          <p:cNvSpPr>
            <a:spLocks noGrp="1"/>
          </p:cNvSpPr>
          <p:nvPr>
            <p:ph sz="quarter" idx="1"/>
          </p:nvPr>
        </p:nvSpPr>
        <p:spPr>
          <a:xfrm>
            <a:off x="611560" y="795969"/>
            <a:ext cx="7776864" cy="4873752"/>
          </a:xfrm>
        </p:spPr>
        <p:txBody>
          <a:bodyPr/>
          <a:lstStyle/>
          <a:p>
            <a:r>
              <a:rPr lang="en-US" b="1" dirty="0">
                <a:solidFill>
                  <a:srgbClr val="0000FF"/>
                </a:solidFill>
              </a:rPr>
              <a:t>Inheritance</a:t>
            </a:r>
            <a:r>
              <a:rPr lang="en-US" b="1" dirty="0"/>
              <a:t> </a:t>
            </a:r>
            <a:r>
              <a:rPr lang="en-US" dirty="0"/>
              <a:t>is a concept that we see in our day-to-day life. Children inherit features like height, eyes, nose, etc. from their parents. </a:t>
            </a:r>
            <a:endParaRPr lang="en-US" dirty="0" smtClean="0"/>
          </a:p>
          <a:p>
            <a:r>
              <a:rPr lang="en-US" b="1" dirty="0">
                <a:solidFill>
                  <a:srgbClr val="0000FF"/>
                </a:solidFill>
              </a:rPr>
              <a:t>In CSS inheritance</a:t>
            </a:r>
            <a:r>
              <a:rPr lang="en-US" dirty="0"/>
              <a:t>, the child element will naturally inherit properties from its parent element</a:t>
            </a:r>
            <a:r>
              <a:rPr lang="en-US" dirty="0" smtClean="0"/>
              <a:t>.</a:t>
            </a:r>
          </a:p>
        </p:txBody>
      </p:sp>
    </p:spTree>
    <p:extLst>
      <p:ext uri="{BB962C8B-B14F-4D97-AF65-F5344CB8AC3E}">
        <p14:creationId xmlns:p14="http://schemas.microsoft.com/office/powerpoint/2010/main" val="21270845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pic>
        <p:nvPicPr>
          <p:cNvPr id="3" name="Picture 2"/>
          <p:cNvPicPr>
            <a:picLocks noChangeAspect="1"/>
          </p:cNvPicPr>
          <p:nvPr/>
        </p:nvPicPr>
        <p:blipFill>
          <a:blip r:embed="rId2"/>
          <a:stretch>
            <a:fillRect/>
          </a:stretch>
        </p:blipFill>
        <p:spPr>
          <a:xfrm>
            <a:off x="466793" y="1272499"/>
            <a:ext cx="7776864" cy="4360550"/>
          </a:xfrm>
          <a:prstGeom prst="rect">
            <a:avLst/>
          </a:prstGeom>
        </p:spPr>
      </p:pic>
    </p:spTree>
    <p:extLst>
      <p:ext uri="{BB962C8B-B14F-4D97-AF65-F5344CB8AC3E}">
        <p14:creationId xmlns:p14="http://schemas.microsoft.com/office/powerpoint/2010/main" val="1628020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7" name="TextBox 6"/>
          <p:cNvSpPr txBox="1"/>
          <p:nvPr/>
        </p:nvSpPr>
        <p:spPr>
          <a:xfrm>
            <a:off x="477455" y="908720"/>
            <a:ext cx="1306488" cy="400110"/>
          </a:xfrm>
          <a:prstGeom prst="rect">
            <a:avLst/>
          </a:prstGeom>
          <a:noFill/>
        </p:spPr>
        <p:txBody>
          <a:bodyPr wrap="square" rtlCol="0">
            <a:spAutoFit/>
          </a:bodyPr>
          <a:lstStyle/>
          <a:p>
            <a:r>
              <a:rPr lang="en-US" sz="2000" b="1" u="sng" dirty="0" smtClean="0">
                <a:solidFill>
                  <a:srgbClr val="FF0066"/>
                </a:solidFill>
              </a:rPr>
              <a:t>Output:</a:t>
            </a:r>
            <a:endParaRPr lang="en-US" dirty="0">
              <a:solidFill>
                <a:srgbClr val="FF0066"/>
              </a:solidFill>
            </a:endParaRPr>
          </a:p>
        </p:txBody>
      </p:sp>
      <p:pic>
        <p:nvPicPr>
          <p:cNvPr id="3" name="Picture 2"/>
          <p:cNvPicPr>
            <a:picLocks noChangeAspect="1"/>
          </p:cNvPicPr>
          <p:nvPr/>
        </p:nvPicPr>
        <p:blipFill>
          <a:blip r:embed="rId2"/>
          <a:stretch>
            <a:fillRect/>
          </a:stretch>
        </p:blipFill>
        <p:spPr>
          <a:xfrm>
            <a:off x="441068" y="1455511"/>
            <a:ext cx="8064896" cy="1709346"/>
          </a:xfrm>
          <a:prstGeom prst="rect">
            <a:avLst/>
          </a:prstGeom>
        </p:spPr>
      </p:pic>
      <p:sp>
        <p:nvSpPr>
          <p:cNvPr id="5" name="Rectangle 4"/>
          <p:cNvSpPr/>
          <p:nvPr/>
        </p:nvSpPr>
        <p:spPr>
          <a:xfrm>
            <a:off x="333477" y="4581128"/>
            <a:ext cx="7601272" cy="1938992"/>
          </a:xfrm>
          <a:prstGeom prst="rect">
            <a:avLst/>
          </a:prstGeom>
        </p:spPr>
        <p:txBody>
          <a:bodyPr wrap="square">
            <a:spAutoFit/>
          </a:bodyPr>
          <a:lstStyle/>
          <a:p>
            <a:pPr marL="342900" indent="-342900">
              <a:buFont typeface="Arial" panose="020B0604020202020204" pitchFamily="34" charset="0"/>
              <a:buChar char="•"/>
            </a:pPr>
            <a:r>
              <a:rPr lang="en-US" sz="2000" dirty="0" smtClean="0"/>
              <a:t>In above example, parentclass:p1 </a:t>
            </a:r>
            <a:r>
              <a:rPr lang="en-US" sz="2000" dirty="0"/>
              <a:t>passes a CSS styling done as color to be </a:t>
            </a:r>
            <a:r>
              <a:rPr lang="en-US" sz="2000" dirty="0" smtClean="0"/>
              <a:t>blue. </a:t>
            </a:r>
            <a:r>
              <a:rPr lang="en-US" sz="2000" dirty="0"/>
              <a:t>Whereas the child classes </a:t>
            </a:r>
            <a:r>
              <a:rPr lang="en-US" sz="2000" dirty="0" smtClean="0"/>
              <a:t>: p2 has </a:t>
            </a:r>
            <a:r>
              <a:rPr lang="en-US" sz="2000" dirty="0"/>
              <a:t>no ruleset of color: </a:t>
            </a:r>
            <a:r>
              <a:rPr lang="en-US" sz="2000" dirty="0" smtClean="0"/>
              <a:t>blue </a:t>
            </a:r>
            <a:r>
              <a:rPr lang="en-US" sz="2000" dirty="0"/>
              <a:t>set to them but they got displayed in </a:t>
            </a:r>
            <a:r>
              <a:rPr lang="en-US" sz="2000" dirty="0" smtClean="0"/>
              <a:t>blue.</a:t>
            </a:r>
          </a:p>
          <a:p>
            <a:pPr marL="342900" indent="-342900">
              <a:buFont typeface="Arial" panose="020B0604020202020204" pitchFamily="34" charset="0"/>
              <a:buChar char="•"/>
            </a:pPr>
            <a:r>
              <a:rPr lang="en-US" sz="2000" dirty="0" smtClean="0"/>
              <a:t>It </a:t>
            </a:r>
            <a:r>
              <a:rPr lang="en-US" sz="2000" dirty="0"/>
              <a:t>is because the child </a:t>
            </a:r>
            <a:r>
              <a:rPr lang="en-US" sz="2000" dirty="0" smtClean="0"/>
              <a:t>p2 </a:t>
            </a:r>
            <a:r>
              <a:rPr lang="en-US" sz="2000" dirty="0"/>
              <a:t>inherited the properties from the parent i.e. </a:t>
            </a:r>
            <a:r>
              <a:rPr lang="en-US" sz="2000" dirty="0" smtClean="0"/>
              <a:t>p1</a:t>
            </a:r>
            <a:endParaRPr lang="en-US" sz="2000" dirty="0"/>
          </a:p>
        </p:txBody>
      </p:sp>
      <p:sp>
        <p:nvSpPr>
          <p:cNvPr id="8" name="TextBox 7"/>
          <p:cNvSpPr txBox="1"/>
          <p:nvPr/>
        </p:nvSpPr>
        <p:spPr>
          <a:xfrm>
            <a:off x="390220" y="4005064"/>
            <a:ext cx="1306488" cy="400110"/>
          </a:xfrm>
          <a:prstGeom prst="rect">
            <a:avLst/>
          </a:prstGeom>
          <a:noFill/>
        </p:spPr>
        <p:txBody>
          <a:bodyPr wrap="square" rtlCol="0">
            <a:spAutoFit/>
          </a:bodyPr>
          <a:lstStyle/>
          <a:p>
            <a:r>
              <a:rPr lang="en-US" sz="2000" b="1" u="sng" dirty="0" smtClean="0">
                <a:solidFill>
                  <a:srgbClr val="FF0066"/>
                </a:solidFill>
              </a:rPr>
              <a:t>Note:</a:t>
            </a:r>
            <a:endParaRPr lang="en-US" dirty="0">
              <a:solidFill>
                <a:srgbClr val="FF0066"/>
              </a:solidFill>
            </a:endParaRPr>
          </a:p>
        </p:txBody>
      </p:sp>
    </p:spTree>
    <p:extLst>
      <p:ext uri="{BB962C8B-B14F-4D97-AF65-F5344CB8AC3E}">
        <p14:creationId xmlns:p14="http://schemas.microsoft.com/office/powerpoint/2010/main" val="1455614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pPr fontAlgn="base"/>
            <a:r>
              <a:rPr lang="en-IN" b="1" dirty="0">
                <a:solidFill>
                  <a:srgbClr val="7030A0"/>
                </a:solidFill>
              </a:rPr>
              <a:t>specificity</a:t>
            </a:r>
          </a:p>
        </p:txBody>
      </p:sp>
      <p:sp>
        <p:nvSpPr>
          <p:cNvPr id="3" name="Content Placeholder 2"/>
          <p:cNvSpPr>
            <a:spLocks noGrp="1"/>
          </p:cNvSpPr>
          <p:nvPr>
            <p:ph sz="quarter" idx="1"/>
          </p:nvPr>
        </p:nvSpPr>
        <p:spPr>
          <a:xfrm>
            <a:off x="611560" y="795969"/>
            <a:ext cx="7776864" cy="4873752"/>
          </a:xfrm>
        </p:spPr>
        <p:txBody>
          <a:bodyPr/>
          <a:lstStyle/>
          <a:p>
            <a:r>
              <a:rPr lang="en-US" dirty="0"/>
              <a:t>When more than one set of CSS rules apply to the same element, the browser will have to decide which specific set will be applied to the element. The rules the browser follows are collectively called </a:t>
            </a:r>
            <a:r>
              <a:rPr lang="en-US" b="1" dirty="0" smtClean="0"/>
              <a:t>Specificity.</a:t>
            </a:r>
          </a:p>
          <a:p>
            <a:pPr fontAlgn="base"/>
            <a:r>
              <a:rPr lang="en-US" b="1" dirty="0"/>
              <a:t>Specificity Rules include: </a:t>
            </a:r>
            <a:r>
              <a:rPr lang="en-US" dirty="0"/>
              <a:t> </a:t>
            </a:r>
          </a:p>
          <a:p>
            <a:pPr lvl="1" fontAlgn="base"/>
            <a:r>
              <a:rPr lang="en-US" dirty="0"/>
              <a:t>CSS style applied by referencing external stylesheet has lowest precedence and is overridden by Internal and inline CSS.</a:t>
            </a:r>
          </a:p>
          <a:p>
            <a:pPr lvl="1" fontAlgn="base"/>
            <a:r>
              <a:rPr lang="en-US" dirty="0"/>
              <a:t>Internal CSS is overridden by inline CSS.</a:t>
            </a:r>
          </a:p>
          <a:p>
            <a:pPr lvl="1" fontAlgn="base"/>
            <a:r>
              <a:rPr lang="en-US" dirty="0"/>
              <a:t>Inline CSS has highest priority and overrides all other selectors.</a:t>
            </a:r>
          </a:p>
          <a:p>
            <a:endParaRPr lang="en-US" dirty="0" smtClean="0"/>
          </a:p>
        </p:txBody>
      </p:sp>
    </p:spTree>
    <p:extLst>
      <p:ext uri="{BB962C8B-B14F-4D97-AF65-F5344CB8AC3E}">
        <p14:creationId xmlns:p14="http://schemas.microsoft.com/office/powerpoint/2010/main" val="18168604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pPr fontAlgn="base"/>
            <a:r>
              <a:rPr lang="en-IN" b="1" dirty="0">
                <a:solidFill>
                  <a:srgbClr val="7030A0"/>
                </a:solidFill>
              </a:rPr>
              <a:t>specificity</a:t>
            </a:r>
          </a:p>
        </p:txBody>
      </p:sp>
      <p:sp>
        <p:nvSpPr>
          <p:cNvPr id="3" name="Content Placeholder 2"/>
          <p:cNvSpPr>
            <a:spLocks noGrp="1"/>
          </p:cNvSpPr>
          <p:nvPr>
            <p:ph sz="quarter" idx="1"/>
          </p:nvPr>
        </p:nvSpPr>
        <p:spPr>
          <a:xfrm>
            <a:off x="611560" y="795969"/>
            <a:ext cx="7776864" cy="4873752"/>
          </a:xfrm>
        </p:spPr>
        <p:txBody>
          <a:bodyPr>
            <a:normAutofit/>
          </a:bodyPr>
          <a:lstStyle/>
          <a:p>
            <a:pPr fontAlgn="base"/>
            <a:r>
              <a:rPr lang="en-US" b="1" dirty="0"/>
              <a:t>Specificity Hierarchy :</a:t>
            </a:r>
            <a:r>
              <a:rPr lang="en-US" dirty="0"/>
              <a:t>Every element selector has a position in the </a:t>
            </a:r>
            <a:r>
              <a:rPr lang="en-US" dirty="0" err="1" smtClean="0"/>
              <a:t>sequance</a:t>
            </a:r>
            <a:r>
              <a:rPr lang="en-US" dirty="0" smtClean="0"/>
              <a:t>.</a:t>
            </a:r>
            <a:r>
              <a:rPr lang="en-US" dirty="0"/>
              <a:t> </a:t>
            </a:r>
          </a:p>
          <a:p>
            <a:pPr fontAlgn="base"/>
            <a:r>
              <a:rPr lang="en-US" b="1" dirty="0"/>
              <a:t>Inline style:</a:t>
            </a:r>
            <a:r>
              <a:rPr lang="en-US" dirty="0"/>
              <a:t> Inline style has highest priority. </a:t>
            </a:r>
            <a:br>
              <a:rPr lang="en-US" dirty="0"/>
            </a:br>
            <a:r>
              <a:rPr lang="en-US" dirty="0"/>
              <a:t> </a:t>
            </a:r>
          </a:p>
          <a:p>
            <a:pPr fontAlgn="base"/>
            <a:r>
              <a:rPr lang="en-US" b="1" dirty="0"/>
              <a:t>Identifiers(ID):</a:t>
            </a:r>
            <a:r>
              <a:rPr lang="en-US" dirty="0"/>
              <a:t> ID have the second highest priority. </a:t>
            </a:r>
            <a:br>
              <a:rPr lang="en-US" dirty="0"/>
            </a:br>
            <a:r>
              <a:rPr lang="en-US" dirty="0"/>
              <a:t> </a:t>
            </a:r>
          </a:p>
          <a:p>
            <a:pPr fontAlgn="base"/>
            <a:r>
              <a:rPr lang="en-US" b="1" dirty="0" smtClean="0"/>
              <a:t>Classes and </a:t>
            </a:r>
            <a:r>
              <a:rPr lang="en-US" b="1" dirty="0"/>
              <a:t>attributes: </a:t>
            </a:r>
            <a:r>
              <a:rPr lang="en-US" dirty="0" smtClean="0"/>
              <a:t>Classes and </a:t>
            </a:r>
            <a:r>
              <a:rPr lang="en-US" dirty="0"/>
              <a:t>attributes are come next. </a:t>
            </a:r>
            <a:br>
              <a:rPr lang="en-US" dirty="0"/>
            </a:br>
            <a:r>
              <a:rPr lang="en-US" dirty="0"/>
              <a:t> </a:t>
            </a:r>
          </a:p>
          <a:p>
            <a:pPr fontAlgn="base"/>
            <a:r>
              <a:rPr lang="en-US" b="1" dirty="0"/>
              <a:t>Elements </a:t>
            </a:r>
            <a:r>
              <a:rPr lang="en-US" b="1" dirty="0" smtClean="0"/>
              <a:t>:</a:t>
            </a:r>
            <a:r>
              <a:rPr lang="en-US" dirty="0"/>
              <a:t> Elements </a:t>
            </a:r>
            <a:r>
              <a:rPr lang="en-US" dirty="0" smtClean="0"/>
              <a:t>have </a:t>
            </a:r>
            <a:r>
              <a:rPr lang="en-US" dirty="0"/>
              <a:t>lowest priority. </a:t>
            </a:r>
          </a:p>
          <a:p>
            <a:endParaRPr lang="en-US" dirty="0" smtClean="0"/>
          </a:p>
        </p:txBody>
      </p:sp>
    </p:spTree>
    <p:extLst>
      <p:ext uri="{BB962C8B-B14F-4D97-AF65-F5344CB8AC3E}">
        <p14:creationId xmlns:p14="http://schemas.microsoft.com/office/powerpoint/2010/main" val="3759057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6" name="TextBox 5"/>
          <p:cNvSpPr txBox="1"/>
          <p:nvPr/>
        </p:nvSpPr>
        <p:spPr>
          <a:xfrm>
            <a:off x="457200" y="764704"/>
            <a:ext cx="1306488" cy="400110"/>
          </a:xfrm>
          <a:prstGeom prst="rect">
            <a:avLst/>
          </a:prstGeom>
          <a:noFill/>
        </p:spPr>
        <p:txBody>
          <a:bodyPr wrap="square" rtlCol="0">
            <a:spAutoFit/>
          </a:bodyPr>
          <a:lstStyle/>
          <a:p>
            <a:r>
              <a:rPr lang="en-US" sz="2000" b="1" u="sng" dirty="0" smtClean="0">
                <a:solidFill>
                  <a:srgbClr val="FF0066"/>
                </a:solidFill>
              </a:rPr>
              <a:t>Input</a:t>
            </a:r>
            <a:r>
              <a:rPr lang="en-US" dirty="0" smtClean="0">
                <a:solidFill>
                  <a:srgbClr val="FF0066"/>
                </a:solidFill>
              </a:rPr>
              <a:t>:</a:t>
            </a:r>
            <a:endParaRPr lang="en-US" dirty="0">
              <a:solidFill>
                <a:srgbClr val="FF0066"/>
              </a:solidFill>
            </a:endParaRPr>
          </a:p>
        </p:txBody>
      </p:sp>
      <p:pic>
        <p:nvPicPr>
          <p:cNvPr id="5" name="Picture 4"/>
          <p:cNvPicPr>
            <a:picLocks noChangeAspect="1"/>
          </p:cNvPicPr>
          <p:nvPr/>
        </p:nvPicPr>
        <p:blipFill>
          <a:blip r:embed="rId2"/>
          <a:stretch>
            <a:fillRect/>
          </a:stretch>
        </p:blipFill>
        <p:spPr>
          <a:xfrm>
            <a:off x="611560" y="1261659"/>
            <a:ext cx="7495564" cy="5119669"/>
          </a:xfrm>
          <a:prstGeom prst="rect">
            <a:avLst/>
          </a:prstGeom>
        </p:spPr>
      </p:pic>
    </p:spTree>
    <p:extLst>
      <p:ext uri="{BB962C8B-B14F-4D97-AF65-F5344CB8AC3E}">
        <p14:creationId xmlns:p14="http://schemas.microsoft.com/office/powerpoint/2010/main" val="1591368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90066"/>
          </a:xfrm>
        </p:spPr>
        <p:txBody>
          <a:bodyPr>
            <a:normAutofit fontScale="90000"/>
          </a:bodyPr>
          <a:lstStyle/>
          <a:p>
            <a:r>
              <a:rPr lang="en-US" b="1" dirty="0" smtClean="0">
                <a:solidFill>
                  <a:srgbClr val="7030A0"/>
                </a:solidFill>
              </a:rPr>
              <a:t>example</a:t>
            </a:r>
            <a:endParaRPr lang="en-IN" b="1" dirty="0">
              <a:solidFill>
                <a:srgbClr val="7030A0"/>
              </a:solidFill>
            </a:endParaRPr>
          </a:p>
        </p:txBody>
      </p:sp>
      <p:sp>
        <p:nvSpPr>
          <p:cNvPr id="7" name="TextBox 6"/>
          <p:cNvSpPr txBox="1"/>
          <p:nvPr/>
        </p:nvSpPr>
        <p:spPr>
          <a:xfrm>
            <a:off x="477455" y="908720"/>
            <a:ext cx="1306488" cy="400110"/>
          </a:xfrm>
          <a:prstGeom prst="rect">
            <a:avLst/>
          </a:prstGeom>
          <a:noFill/>
        </p:spPr>
        <p:txBody>
          <a:bodyPr wrap="square" rtlCol="0">
            <a:spAutoFit/>
          </a:bodyPr>
          <a:lstStyle/>
          <a:p>
            <a:r>
              <a:rPr lang="en-US" sz="2000" b="1" u="sng" dirty="0" smtClean="0">
                <a:solidFill>
                  <a:srgbClr val="FF0066"/>
                </a:solidFill>
              </a:rPr>
              <a:t>Output:</a:t>
            </a:r>
            <a:endParaRPr lang="en-US" dirty="0">
              <a:solidFill>
                <a:srgbClr val="FF0066"/>
              </a:solidFill>
            </a:endParaRPr>
          </a:p>
        </p:txBody>
      </p:sp>
      <p:pic>
        <p:nvPicPr>
          <p:cNvPr id="6" name="Picture 5"/>
          <p:cNvPicPr>
            <a:picLocks noChangeAspect="1"/>
          </p:cNvPicPr>
          <p:nvPr/>
        </p:nvPicPr>
        <p:blipFill>
          <a:blip r:embed="rId2"/>
          <a:stretch>
            <a:fillRect/>
          </a:stretch>
        </p:blipFill>
        <p:spPr>
          <a:xfrm>
            <a:off x="494758" y="1308830"/>
            <a:ext cx="6001588" cy="4239217"/>
          </a:xfrm>
          <a:prstGeom prst="rect">
            <a:avLst/>
          </a:prstGeom>
        </p:spPr>
      </p:pic>
    </p:spTree>
    <p:extLst>
      <p:ext uri="{BB962C8B-B14F-4D97-AF65-F5344CB8AC3E}">
        <p14:creationId xmlns:p14="http://schemas.microsoft.com/office/powerpoint/2010/main" val="3544900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7492</TotalTime>
  <Words>2002</Words>
  <Application>Microsoft Office PowerPoint</Application>
  <PresentationFormat>On-screen Show (4:3)</PresentationFormat>
  <Paragraphs>403</Paragraphs>
  <Slides>69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69</vt:i4>
      </vt:variant>
    </vt:vector>
  </HeadingPairs>
  <TitlesOfParts>
    <vt:vector size="78" baseType="lpstr">
      <vt:lpstr>Arial</vt:lpstr>
      <vt:lpstr>Calibri</vt:lpstr>
      <vt:lpstr>Century Schoolbook</vt:lpstr>
      <vt:lpstr>Mangal</vt:lpstr>
      <vt:lpstr>Times New Roman</vt:lpstr>
      <vt:lpstr>Verdana</vt:lpstr>
      <vt:lpstr>Wingdings</vt:lpstr>
      <vt:lpstr>Wingdings 2</vt:lpstr>
      <vt:lpstr>Oriel</vt:lpstr>
      <vt:lpstr>CAUC204 –  Programming the internet</vt:lpstr>
      <vt:lpstr>PowerPoint Presentation</vt:lpstr>
      <vt:lpstr>What is advance web designing ?</vt:lpstr>
      <vt:lpstr>PowerPoint Presentation</vt:lpstr>
      <vt:lpstr>WHY IS CSS ?</vt:lpstr>
      <vt:lpstr>WHAT IS CSS ?</vt:lpstr>
      <vt:lpstr>Types of css</vt:lpstr>
      <vt:lpstr>1) Inline css</vt:lpstr>
      <vt:lpstr>Style attribute </vt:lpstr>
      <vt:lpstr>example</vt:lpstr>
      <vt:lpstr>2) Internal css</vt:lpstr>
      <vt:lpstr>example</vt:lpstr>
      <vt:lpstr>example</vt:lpstr>
      <vt:lpstr>3) Extranal css</vt:lpstr>
      <vt:lpstr>example</vt:lpstr>
      <vt:lpstr>example</vt:lpstr>
      <vt:lpstr>example</vt:lpstr>
      <vt:lpstr>CSS syntax</vt:lpstr>
      <vt:lpstr>Important html attributes</vt:lpstr>
      <vt:lpstr>Important html attributes</vt:lpstr>
      <vt:lpstr>Rules for id and class</vt:lpstr>
      <vt:lpstr>Css selector</vt:lpstr>
      <vt:lpstr>Types of css selector</vt:lpstr>
      <vt:lpstr>example</vt:lpstr>
      <vt:lpstr>example</vt:lpstr>
      <vt:lpstr>Types of css selector</vt:lpstr>
      <vt:lpstr>example</vt:lpstr>
      <vt:lpstr>example</vt:lpstr>
      <vt:lpstr>Types of css selector</vt:lpstr>
      <vt:lpstr>example</vt:lpstr>
      <vt:lpstr>example</vt:lpstr>
      <vt:lpstr>Types of css selector</vt:lpstr>
      <vt:lpstr>example</vt:lpstr>
      <vt:lpstr>example</vt:lpstr>
      <vt:lpstr>Types of css selector</vt:lpstr>
      <vt:lpstr>example</vt:lpstr>
      <vt:lpstr>example</vt:lpstr>
      <vt:lpstr>Types of css selector</vt:lpstr>
      <vt:lpstr>example</vt:lpstr>
      <vt:lpstr>example</vt:lpstr>
      <vt:lpstr>Types of css selector</vt:lpstr>
      <vt:lpstr>example</vt:lpstr>
      <vt:lpstr>example</vt:lpstr>
      <vt:lpstr>Types of css selector</vt:lpstr>
      <vt:lpstr>example</vt:lpstr>
      <vt:lpstr>example</vt:lpstr>
      <vt:lpstr>Types of css selector</vt:lpstr>
      <vt:lpstr>example</vt:lpstr>
      <vt:lpstr>example</vt:lpstr>
      <vt:lpstr>Types of css selector</vt:lpstr>
      <vt:lpstr>example</vt:lpstr>
      <vt:lpstr>example</vt:lpstr>
      <vt:lpstr>Css box model</vt:lpstr>
      <vt:lpstr>Css box model</vt:lpstr>
      <vt:lpstr>Css box model</vt:lpstr>
      <vt:lpstr>Css box model</vt:lpstr>
      <vt:lpstr>example</vt:lpstr>
      <vt:lpstr>example</vt:lpstr>
      <vt:lpstr>Css box model</vt:lpstr>
      <vt:lpstr>Cascade &amp; inheritance</vt:lpstr>
      <vt:lpstr>example</vt:lpstr>
      <vt:lpstr>example</vt:lpstr>
      <vt:lpstr>Cascade &amp; inheritance</vt:lpstr>
      <vt:lpstr>example</vt:lpstr>
      <vt:lpstr>example</vt:lpstr>
      <vt:lpstr>specificity</vt:lpstr>
      <vt:lpstr>specificity</vt:lpstr>
      <vt:lpstr>example</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dc:title>
  <dc:creator>jinesh soni</dc:creator>
  <cp:lastModifiedBy>KONICA SONI</cp:lastModifiedBy>
  <cp:revision>166</cp:revision>
  <dcterms:created xsi:type="dcterms:W3CDTF">2022-06-24T03:34:01Z</dcterms:created>
  <dcterms:modified xsi:type="dcterms:W3CDTF">2025-12-11T09:56:51Z</dcterms:modified>
</cp:coreProperties>
</file>